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65fac7f363b4404" /><Relationship Type="http://schemas.openxmlformats.org/package/2006/relationships/metadata/core-properties" Target="/docProps/core.xml" Id="R03e7a0238b0142f9" /><Relationship Type="http://schemas.openxmlformats.org/officeDocument/2006/relationships/extended-properties" Target="/docProps/app.xml" Id="Re21d9175d04f482c" /><Relationship Type="http://schemas.openxmlformats.org/officeDocument/2006/relationships/custom-properties" Target="/docProps/custom.xml" Id="R353c536915614cf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4c60391e739448e"/>
  </p:notesMasterIdLst>
  <p:sldIdLst>
    <p:sldId id="256" r:id="R75f91b2af4544849"/>
    <p:sldId id="257" r:id="R84419bc43fda46cb"/>
    <p:sldId id="258" r:id="R04b16a42334b4abb"/>
    <p:sldId id="259" r:id="R4bb380f3f5214a88"/>
    <p:sldId id="260" r:id="R32ffc6a08cea4b8c"/>
    <p:sldId id="261" r:id="Ra45af5cb601946f3"/>
    <p:sldId id="262" r:id="Ra13643953a53486c"/>
    <p:sldId id="263" r:id="Rca45af02940b4e45"/>
    <p:sldId id="264" r:id="R7d8e8b1d539e4750"/>
    <p:sldId id="265" r:id="Rca834ac4586345c9"/>
    <p:sldId id="266" r:id="Rc2e5a72a09274775"/>
    <p:sldId id="267" r:id="R684d3d3b3149497d"/>
    <p:sldId id="268" r:id="R5ff3655e0ee04a12"/>
    <p:sldId id="269" r:id="R989c354f4a7145f7"/>
    <p:sldId id="270" r:id="R95d9050e23904d7d"/>
    <p:sldId id="271" r:id="R3148eb67afd440cf"/>
    <p:sldId id="272" r:id="R4c1b8d49071544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5f91b2af4544849" /><Relationship Type="http://schemas.openxmlformats.org/officeDocument/2006/relationships/notesMaster" Target="/ppt/notesMasters/notesMaster1.xml" Id="R74c60391e739448e" /><Relationship Type="http://schemas.openxmlformats.org/officeDocument/2006/relationships/slide" Target="/ppt/slides/slide2.xml" Id="R84419bc43fda46cb" /><Relationship Type="http://schemas.openxmlformats.org/officeDocument/2006/relationships/slide" Target="/ppt/slides/slide3.xml" Id="R04b16a42334b4abb" /><Relationship Type="http://schemas.openxmlformats.org/officeDocument/2006/relationships/slide" Target="/ppt/slides/slide4.xml" Id="R4bb380f3f5214a88" /><Relationship Type="http://schemas.openxmlformats.org/officeDocument/2006/relationships/slide" Target="/ppt/slides/slide5.xml" Id="R32ffc6a08cea4b8c" /><Relationship Type="http://schemas.openxmlformats.org/officeDocument/2006/relationships/slide" Target="/ppt/slides/slide6.xml" Id="Ra45af5cb601946f3" /><Relationship Type="http://schemas.openxmlformats.org/officeDocument/2006/relationships/slide" Target="/ppt/slides/slide7.xml" Id="Ra13643953a53486c" /><Relationship Type="http://schemas.openxmlformats.org/officeDocument/2006/relationships/slide" Target="/ppt/slides/slide8.xml" Id="Rca45af02940b4e45" /><Relationship Type="http://schemas.openxmlformats.org/officeDocument/2006/relationships/slide" Target="/ppt/slides/slide9.xml" Id="R7d8e8b1d539e4750" /><Relationship Type="http://schemas.openxmlformats.org/officeDocument/2006/relationships/slide" Target="/ppt/slides/slide10.xml" Id="Rca834ac4586345c9" /><Relationship Type="http://schemas.openxmlformats.org/officeDocument/2006/relationships/slide" Target="/ppt/slides/slide11.xml" Id="Rc2e5a72a09274775" /><Relationship Type="http://schemas.openxmlformats.org/officeDocument/2006/relationships/slide" Target="/ppt/slides/slide12.xml" Id="R684d3d3b3149497d" /><Relationship Type="http://schemas.openxmlformats.org/officeDocument/2006/relationships/slide" Target="/ppt/slides/slide13.xml" Id="R5ff3655e0ee04a12" /><Relationship Type="http://schemas.openxmlformats.org/officeDocument/2006/relationships/slide" Target="/ppt/slides/slide14.xml" Id="R989c354f4a7145f7" /><Relationship Type="http://schemas.openxmlformats.org/officeDocument/2006/relationships/slide" Target="/ppt/slides/slide15.xml" Id="R95d9050e23904d7d" /><Relationship Type="http://schemas.openxmlformats.org/officeDocument/2006/relationships/slide" Target="/ppt/slides/slide16.xml" Id="R3148eb67afd440cf" /><Relationship Type="http://schemas.openxmlformats.org/officeDocument/2006/relationships/slide" Target="/ppt/slides/slide17.xml" Id="R4c1b8d49071544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48b6ee1c61420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90c13a79f5248ea" /><Relationship Type="http://schemas.openxmlformats.org/officeDocument/2006/relationships/slide" Target="/ppt/slides/slide1.xml" Id="R497fb4da96e44d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1933d9bcf6048fc" /><Relationship Type="http://schemas.openxmlformats.org/officeDocument/2006/relationships/slide" Target="/ppt/slides/slide2.xml" Id="Rfb6aab6aeaf34b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f8c9e6dada943de" /><Relationship Type="http://schemas.openxmlformats.org/officeDocument/2006/relationships/slide" Target="/ppt/slides/slide3.xml" Id="R9987fca641d845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4593e7d2ba74f07" /><Relationship Type="http://schemas.openxmlformats.org/officeDocument/2006/relationships/slide" Target="/ppt/slides/slide4.xml" Id="Rdbb16a4cb0ea47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22b1aa28f1144c4" /><Relationship Type="http://schemas.openxmlformats.org/officeDocument/2006/relationships/slide" Target="/ppt/slides/slide5.xml" Id="Re3159f7eba2f4b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02dea4d65c34070" /><Relationship Type="http://schemas.openxmlformats.org/officeDocument/2006/relationships/slide" Target="/ppt/slides/slide6.xml" Id="R2330af48b07849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e7dfcf90726471b" /><Relationship Type="http://schemas.openxmlformats.org/officeDocument/2006/relationships/slide" Target="/ppt/slides/slide7.xml" Id="R5ad6b664fdea45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7c3c9a1f0234e4b" /><Relationship Type="http://schemas.openxmlformats.org/officeDocument/2006/relationships/slide" Target="/ppt/slides/slide8.xml" Id="Ra12a58a7ed0f48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22df0f339f244af" /><Relationship Type="http://schemas.openxmlformats.org/officeDocument/2006/relationships/slide" Target="/ppt/slides/slide9.xml" Id="Rb05229bdabff45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147f58d6544851" /><Relationship Type="http://schemas.openxmlformats.org/officeDocument/2006/relationships/slide" Target="/ppt/slides/slide10.xml" Id="Rb689fd3269bb4c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52190d79f14486a" /><Relationship Type="http://schemas.openxmlformats.org/officeDocument/2006/relationships/slide" Target="/ppt/slides/slide11.xml" Id="R9ad1afe2af4b49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366d4a3f174d5d" /><Relationship Type="http://schemas.openxmlformats.org/officeDocument/2006/relationships/slide" Target="/ppt/slides/slide12.xml" Id="R4f83847c368140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6e114ae1f064acc" /><Relationship Type="http://schemas.openxmlformats.org/officeDocument/2006/relationships/slide" Target="/ppt/slides/slide13.xml" Id="R0963978fbe0d48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dcbeb9ab8c9448b" /><Relationship Type="http://schemas.openxmlformats.org/officeDocument/2006/relationships/slide" Target="/ppt/slides/slide14.xml" Id="Rb5404e8502e24c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4d5d31577134448" /><Relationship Type="http://schemas.openxmlformats.org/officeDocument/2006/relationships/slide" Target="/ppt/slides/slide15.xml" Id="R6a0fc59abccf47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1610ad7d54d4b16" /><Relationship Type="http://schemas.openxmlformats.org/officeDocument/2006/relationships/slide" Target="/ppt/slides/slide16.xml" Id="R100e0307f95f41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4e55899a4df4fc7" /><Relationship Type="http://schemas.openxmlformats.org/officeDocument/2006/relationships/slide" Target="/ppt/slides/slide17.xml" Id="Rabe2a899987249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Yogesh Raje Personal Portfolio — AI-Powered Web Application using IBM Granite via IBM watsonx.ai. Built following all 7 phases of the Agentic AI SDLC.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Agenda: 15 slides covering project overview, trainer profile, full 7-phase Agentic AI SDLC, portfolio demos, tech stack, and deployment.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Project Overview: Full-stack SPA portfolio with embedded IBM Granite AI assistant. Node.js server, zero npm dependencies, 8 portfolio sections, live at localhost:3000. Deployed to GitHub.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Yogesh Raje — Technical Trainer and Subject Matter Expert. 500+ professionals trained, 98% satisfaction, 3 specialisation domains. Based in Pune, India.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Agentic AI SDLC: 7 phases from requirements through deployment. Key differentiator vs traditional SDLC: agent capability definition, PAAR loop design, and treating the system prompt as code.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1 Requirements: 5 stakeholders, 16 functional requirements covering 8 portfolio sections and 8 AI assistant features, 9 non-functional requirements, 5 key constraints.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2: PAAR agentic loop — Perceive user input, Assess intent (5 categories), Act via IBM Granite or fallback, Reflect using persona constraints in the system prompt.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3: 3-tier architecture — Browser (SPA), Node.js server, IBM Cloud. UI uses dark navy theme with cyan/indigo/green gradient palette. Mobile-first, zero external dependencies.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4 Development: 5 sprints. 8 portfolio sections built. Key decision: zero npm dependencies — only Node.js built-in modules used throughout. Single index.html file, 1160 lines.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5: IBM Granite integration. 5-step flow from user message to rendered response. IAM token cached server-side. API key never exposed to browser. .env loaded at startup.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6 Testing: 6 UI tests + 6 AI tests = 12 total, all passed. 8 acceptance criteria all met. Key: API key confirmed never exposed, fallback mode fully functional.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Live portfolio screenshot mockup: Hero section shows animated gradient name, role subtitle, 3 CTA buttons. About section shows orbital rings animation, biography, 4 stat cards. Running at localhost:3000.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13: IBM Granite AI chat widget demo. Shows the full conversation flow — welcome message, suggested prompts, user query, typing indicator, Granite response. Features: 12-turn memory, fallback mode, Markdown rendering.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Technology stack: Node.js 22 LTS, zero npm dependencies (all built-in modules), IBM Granite 3.3 8B Instruct, IBM watsonx.ai, IBM IAM OAuth 2.0. 10 files in the repository.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7 Deployment: Server running at localhost:3000. HTTP 200, all content verified. Multiple deployment options: local node, Windows .bat, Docker, IBM Code Engine, Vercel/Railway/Render.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16: All success metrics met. 8 risks identified and all mitigated. Project completion certificate: all 7 SDLC phases complete, deployed to GitHub, running at localhost:3000.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 Yogesh Raje Personal Portfolio — complete Agentic AI SDLC implementation. All 7 phases done. Live at localhost:3000. GitHub deployed. IBM Granite powered.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c41f548284f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f32bdc5ea43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f168e71f740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58f90b86c4b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a3cf0754a444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d3ff31de4be420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cdfb293444e09" /><Relationship Type="http://schemas.openxmlformats.org/officeDocument/2006/relationships/notesSlide" Target="/ppt/notesSlides/notesSlide1.xml" Id="R24e720f2a21c4f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01cd56e474f4f" /><Relationship Type="http://schemas.openxmlformats.org/officeDocument/2006/relationships/notesSlide" Target="/ppt/notesSlides/notesSlide2.xml" Id="R46ff7f71415f45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9a7a03d9646e7" /><Relationship Type="http://schemas.openxmlformats.org/officeDocument/2006/relationships/notesSlide" Target="/ppt/notesSlides/notesSlide3.xml" Id="Raae5077ac0f741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64a503fd048ef" /><Relationship Type="http://schemas.openxmlformats.org/officeDocument/2006/relationships/notesSlide" Target="/ppt/notesSlides/notesSlide4.xml" Id="Rff30b41e3d9347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460a2b3b14407" /><Relationship Type="http://schemas.openxmlformats.org/officeDocument/2006/relationships/notesSlide" Target="/ppt/notesSlides/notesSlide5.xml" Id="R623d2356b0d245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39201839f48d6" /><Relationship Type="http://schemas.openxmlformats.org/officeDocument/2006/relationships/notesSlide" Target="/ppt/notesSlides/notesSlide6.xml" Id="R566c8bf063c546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986a394124ddf" /><Relationship Type="http://schemas.openxmlformats.org/officeDocument/2006/relationships/notesSlide" Target="/ppt/notesSlides/notesSlide7.xml" Id="Rac238f5c74d44a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7d56ef4664965" /><Relationship Type="http://schemas.openxmlformats.org/officeDocument/2006/relationships/notesSlide" Target="/ppt/notesSlides/notesSlide8.xml" Id="R4acb7e0677604f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7947133154d67" /><Relationship Type="http://schemas.openxmlformats.org/officeDocument/2006/relationships/notesSlide" Target="/ppt/notesSlides/notesSlide9.xml" Id="Rf51867330e884d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ef793c0774afd" /><Relationship Type="http://schemas.openxmlformats.org/officeDocument/2006/relationships/notesSlide" Target="/ppt/notesSlides/notesSlide10.xml" Id="R647a824cbc6e4d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7264997394504" /><Relationship Type="http://schemas.openxmlformats.org/officeDocument/2006/relationships/notesSlide" Target="/ppt/notesSlides/notesSlide11.xml" Id="R51959e28eaa54b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f5d0d7e74487d" /><Relationship Type="http://schemas.openxmlformats.org/officeDocument/2006/relationships/notesSlide" Target="/ppt/notesSlides/notesSlide12.xml" Id="Re177ba1568114e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b2ccc9cc24d82" /><Relationship Type="http://schemas.openxmlformats.org/officeDocument/2006/relationships/notesSlide" Target="/ppt/notesSlides/notesSlide13.xml" Id="R5d09845a8a764f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99282abd24f9e" /><Relationship Type="http://schemas.openxmlformats.org/officeDocument/2006/relationships/notesSlide" Target="/ppt/notesSlides/notesSlide14.xml" Id="R0418e61dd49c42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d93f82f5144b6" /><Relationship Type="http://schemas.openxmlformats.org/officeDocument/2006/relationships/notesSlide" Target="/ppt/notesSlides/notesSlide15.xml" Id="Rfb5d039d516249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039689d4c4096" /><Relationship Type="http://schemas.openxmlformats.org/officeDocument/2006/relationships/notesSlide" Target="/ppt/notesSlides/notesSlide16.xml" Id="R00bda0b0714c4a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8b8d4377342ea" /><Relationship Type="http://schemas.openxmlformats.org/officeDocument/2006/relationships/notesSlide" Target="/ppt/notesSlides/notesSlide17.xml" Id="Rb9537eb5b9b248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01" name="BottomBar"/>
          <p:cNvSpPr txBox="1"/>
          <p:nvPr/>
        </p:nvSpPr>
        <p:spPr>
          <a:xfrm xmlns:a="http://schemas.openxmlformats.org/drawingml/2006/main">
            <a:off x="0" y="6768000"/>
            <a:ext cx="121932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002" name="Badge"/>
          <p:cNvSpPr txBox="1"/>
          <p:nvPr/>
        </p:nvSpPr>
        <p:spPr>
          <a:xfrm xmlns:a="http://schemas.openxmlformats.org/drawingml/2006/main">
            <a:off x="720000" y="900000"/>
            <a:ext cx="43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8BDF8"/>
                </a:solidFill>
              </a:rPr>
              <a:t>AGENTIC AI SDLC PROJECT</a:t>
            </a:r>
          </a:p>
        </p:txBody>
      </p:sp>
      <p:sp>
        <p:nvSpPr>
          <p:cNvPr id="100003" name="Title"/>
          <p:cNvSpPr txBox="1"/>
          <p:nvPr/>
        </p:nvSpPr>
        <p:spPr>
          <a:xfrm xmlns:a="http://schemas.openxmlformats.org/drawingml/2006/main">
            <a:off x="720000" y="1260000"/>
            <a:ext cx="1044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200" b="1">
                <a:solidFill>
                  <a:srgbClr val="FFFFFF"/>
                </a:solidFill>
              </a:rPr>
              <a:t>Yogesh Raje</a:t>
            </a:r>
          </a:p>
          <a:p xmlns:a="http://schemas.openxmlformats.org/drawingml/2006/main">
            <a:r>
              <a:rPr lang="en-US" sz="5200" b="1">
                <a:solidFill>
                  <a:srgbClr val="FFFFFF"/>
                </a:solidFill>
              </a:rPr>
              <a:t>Personal Portfolio</a:t>
            </a:r>
          </a:p>
        </p:txBody>
      </p:sp>
      <p:sp>
        <p:nvSpPr>
          <p:cNvPr id="100004" name="Subtitle"/>
          <p:cNvSpPr txBox="1"/>
          <p:nvPr/>
        </p:nvSpPr>
        <p:spPr>
          <a:xfrm xmlns:a="http://schemas.openxmlformats.org/drawingml/2006/main">
            <a:off x="720000" y="2808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94A3B8"/>
                </a:solidFill>
              </a:rPr>
              <a:t>AI-Powered Portfolio Web Application with IBM Granite Agentic AI</a:t>
            </a:r>
          </a:p>
        </p:txBody>
      </p:sp>
      <p:sp>
        <p:nvSpPr>
          <p:cNvPr id="100005" name="Domains"/>
          <p:cNvSpPr txBox="1"/>
          <p:nvPr/>
        </p:nvSpPr>
        <p:spPr>
          <a:xfrm xmlns:a="http://schemas.openxmlformats.org/drawingml/2006/main">
            <a:off x="720000" y="3348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4D399"/>
                </a:solidFill>
              </a:rPr>
              <a:t>Agentic AI   ·   Machine Learning   ·   Quantum Computing</a:t>
            </a:r>
          </a:p>
        </p:txBody>
      </p:sp>
      <p:sp>
        <p:nvSpPr>
          <p:cNvPr id="100006" name="Model"/>
          <p:cNvSpPr txBox="1"/>
          <p:nvPr/>
        </p:nvSpPr>
        <p:spPr>
          <a:xfrm xmlns:a="http://schemas.openxmlformats.org/drawingml/2006/main">
            <a:off x="720000" y="378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Powered by IBM Granite  |  ibm/granite-3-3-8b-instruct  |  IBM watsonx.ai</a:t>
            </a:r>
          </a:p>
        </p:txBody>
      </p:sp>
      <p:sp>
        <p:nvSpPr>
          <p:cNvPr id="100007" name="SDLC"/>
          <p:cNvSpPr txBox="1"/>
          <p:nvPr/>
        </p:nvSpPr>
        <p:spPr>
          <a:xfrm xmlns:a="http://schemas.openxmlformats.org/drawingml/2006/main">
            <a:off x="720000" y="410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4A3B8"/>
                </a:solidFill>
              </a:rPr>
              <a:t>Built following all 7 phases of the Agentic AI SDLC  |  Developed with IBM Bob</a:t>
            </a:r>
          </a:p>
        </p:txBody>
      </p:sp>
      <p:sp>
        <p:nvSpPr>
          <p:cNvPr id="100008" name="Repo"/>
          <p:cNvSpPr txBox="1"/>
          <p:nvPr/>
        </p:nvSpPr>
        <p:spPr>
          <a:xfrm xmlns:a="http://schemas.openxmlformats.org/drawingml/2006/main">
            <a:off x="720000" y="442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8BDF8"/>
                </a:solidFill>
              </a:rPr>
              <a:t>GitHub: github.com/YogeshRaje/Portfolio_Yogesh_IBMBob</a:t>
            </a:r>
          </a:p>
        </p:txBody>
      </p:sp>
      <p:sp>
        <p:nvSpPr>
          <p:cNvPr id="100009" name="Status"/>
          <p:cNvSpPr txBox="1"/>
          <p:nvPr/>
        </p:nvSpPr>
        <p:spPr>
          <a:xfrm xmlns:a="http://schemas.openxmlformats.org/drawingml/2006/main">
            <a:off x="720000" y="486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4D399"/>
                </a:solidFill>
              </a:rPr>
              <a:t>✅  ALL PHASES COMPLETE  ·  DEPLOYED  ·  RUNNING AT localhost:3000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1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11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100012" name="Title"/>
          <p:cNvSpPr txBox="1"/>
          <p:nvPr/>
        </p:nvSpPr>
        <p:spPr>
          <a:xfrm xmlns:a="http://schemas.openxmlformats.org/drawingml/2006/main">
            <a:off x="720000" y="360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00013" name="Divider"/>
          <p:cNvSpPr txBox="1"/>
          <p:nvPr/>
        </p:nvSpPr>
        <p:spPr>
          <a:xfrm xmlns:a="http://schemas.openxmlformats.org/drawingml/2006/main">
            <a:off x="720000" y="86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14" name="Col1"/>
          <p:cNvSpPr txBox="1"/>
          <p:nvPr/>
        </p:nvSpPr>
        <p:spPr>
          <a:xfrm xmlns:a="http://schemas.openxmlformats.org/drawingml/2006/main">
            <a:off x="720000" y="1008000"/>
            <a:ext cx="504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01  Project Overview &amp; Goals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02  About Yogesh Raje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03  Agentic AI SDLC Methodology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04  Phase 1 — Requirements Analysis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05  Phase 2 — Agentic AI System Design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06  Phase 3 — Architecture &amp; UI/UX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07  Phase 4 — Development Sprints</a:t>
            </a:r>
          </a:p>
        </p:txBody>
      </p:sp>
      <p:sp>
        <p:nvSpPr>
          <p:cNvPr id="100015" name="Col2"/>
          <p:cNvSpPr txBox="1"/>
          <p:nvPr/>
        </p:nvSpPr>
        <p:spPr>
          <a:xfrm xmlns:a="http://schemas.openxmlformats.org/drawingml/2006/main">
            <a:off x="6480000" y="1008000"/>
            <a:ext cx="504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08  Phase 5 — IBM Granite Integration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09  Phase 6 — Testing &amp; Validation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10  Phase 7 — Deployment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11  Portfolio Sections (Live Screenshots)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12  AI Chat Widget Demo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13  Technology Stack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14  File Structure &amp; GitHub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15  Results &amp; Success Metrics</a:t>
            </a:r>
          </a:p>
        </p:txBody>
      </p:sp>
      <p:sp>
        <p:nvSpPr>
          <p:cNvPr id="100016" name="Footer"/>
          <p:cNvSpPr txBox="1"/>
          <p:nvPr/>
        </p:nvSpPr>
        <p:spPr>
          <a:xfrm xmlns:a="http://schemas.openxmlformats.org/drawingml/2006/main">
            <a:off x="720000" y="630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94A3B8"/>
                </a:solidFill>
              </a:rPr>
              <a:t>Yogesh Raje Portfolio  ·  IBM Granite Agentic AI  ·  Agentic AI SDLC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17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18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100019" name="Label"/>
          <p:cNvSpPr txBox="1"/>
          <p:nvPr/>
        </p:nvSpPr>
        <p:spPr>
          <a:xfrm xmlns:a="http://schemas.openxmlformats.org/drawingml/2006/main">
            <a:off x="72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PROJECT OVERVIEW</a:t>
            </a:r>
          </a:p>
        </p:txBody>
      </p:sp>
      <p:sp>
        <p:nvSpPr>
          <p:cNvPr id="100020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About the Project</a:t>
            </a:r>
          </a:p>
        </p:txBody>
      </p:sp>
      <p:sp>
        <p:nvSpPr>
          <p:cNvPr id="100021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22" name="Desc"/>
          <p:cNvSpPr txBox="1"/>
          <p:nvPr/>
        </p:nvSpPr>
        <p:spPr>
          <a:xfrm xmlns:a="http://schemas.openxmlformats.org/drawingml/2006/main">
            <a:off x="720000" y="1224000"/>
            <a:ext cx="104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94A3B8"/>
                </a:solidFill>
              </a:rPr>
              <a:t>A full-stack personal portfolio web application for Yogesh Raje — an expert Technical Trainer — with a live IBM Granite–powered Agentic AI assistant embedded to resolve visitor queries in real time.</a:t>
            </a:r>
          </a:p>
        </p:txBody>
      </p:sp>
      <p:sp>
        <p:nvSpPr>
          <p:cNvPr id="100023" name="Box1"/>
          <p:cNvSpPr txBox="1"/>
          <p:nvPr/>
        </p:nvSpPr>
        <p:spPr>
          <a:xfrm xmlns:a="http://schemas.openxmlformats.org/drawingml/2006/main">
            <a:off x="540000" y="1980000"/>
            <a:ext cx="2592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🌐  Full-Stack SPA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Node.js server + HTML5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CSS3 + Vanilla JS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Zero npm dependencies</a:t>
            </a:r>
          </a:p>
        </p:txBody>
      </p:sp>
      <p:sp>
        <p:nvSpPr>
          <p:cNvPr id="100024" name="Box2"/>
          <p:cNvSpPr txBox="1"/>
          <p:nvPr/>
        </p:nvSpPr>
        <p:spPr>
          <a:xfrm xmlns:a="http://schemas.openxmlformats.org/drawingml/2006/main">
            <a:off x="3420000" y="1980000"/>
            <a:ext cx="2592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🤖  IBM Granite AI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ibm/granite-3-3-8b-instruct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via IBM watsonx.ai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PAAR Agentic Loop</a:t>
            </a:r>
          </a:p>
        </p:txBody>
      </p:sp>
      <p:sp>
        <p:nvSpPr>
          <p:cNvPr id="100025" name="Box3"/>
          <p:cNvSpPr txBox="1"/>
          <p:nvPr/>
        </p:nvSpPr>
        <p:spPr>
          <a:xfrm xmlns:a="http://schemas.openxmlformats.org/drawingml/2006/main">
            <a:off x="6300000" y="1980000"/>
            <a:ext cx="2592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📋  Agentic AI SDLC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7 complete phases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16 Functional Reqs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12 Test cases passed</a:t>
            </a:r>
          </a:p>
        </p:txBody>
      </p:sp>
      <p:sp>
        <p:nvSpPr>
          <p:cNvPr id="100026" name="Box4"/>
          <p:cNvSpPr txBox="1"/>
          <p:nvPr/>
        </p:nvSpPr>
        <p:spPr>
          <a:xfrm xmlns:a="http://schemas.openxmlformats.org/drawingml/2006/main">
            <a:off x="9180000" y="1980000"/>
            <a:ext cx="2592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🚀  Deployed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GitHub repository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Windows .bat launcher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localhost:3000 live</a:t>
            </a:r>
          </a:p>
        </p:txBody>
      </p:sp>
      <p:sp>
        <p:nvSpPr>
          <p:cNvPr id="100027" name="Stats"/>
          <p:cNvSpPr txBox="1"/>
          <p:nvPr/>
        </p:nvSpPr>
        <p:spPr>
          <a:xfrm xmlns:a="http://schemas.openxmlformats.org/drawingml/2006/main">
            <a:off x="720000" y="414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4D399"/>
                </a:solidFill>
              </a:rPr>
              <a:t>500+ Trained     ·     98% Satisfaction     ·     50+ Workshops     ·     3 Domains     ·     0 npm deps</a:t>
            </a:r>
          </a:p>
        </p:txBody>
      </p:sp>
      <p:sp>
        <p:nvSpPr>
          <p:cNvPr id="100028" name="Footer"/>
          <p:cNvSpPr txBox="1"/>
          <p:nvPr/>
        </p:nvSpPr>
        <p:spPr>
          <a:xfrm xmlns:a="http://schemas.openxmlformats.org/drawingml/2006/main">
            <a:off x="720000" y="630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94A3B8"/>
                </a:solidFill>
              </a:rPr>
              <a:t>Yogesh Raje Portfolio  ·  IBM Granite Agentic AI  ·  Agentic AI SDLC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29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30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100031" name="Label"/>
          <p:cNvSpPr txBox="1"/>
          <p:nvPr/>
        </p:nvSpPr>
        <p:spPr>
          <a:xfrm xmlns:a="http://schemas.openxmlformats.org/drawingml/2006/main">
            <a:off x="72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TRAINER PROFILE</a:t>
            </a:r>
          </a:p>
        </p:txBody>
      </p:sp>
      <p:sp>
        <p:nvSpPr>
          <p:cNvPr id="100032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About Yogesh Raje</a:t>
            </a:r>
          </a:p>
        </p:txBody>
      </p:sp>
      <p:sp>
        <p:nvSpPr>
          <p:cNvPr id="100033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034" name="AvatarBg"/>
          <p:cNvSpPr txBox="1"/>
          <p:nvPr/>
        </p:nvSpPr>
        <p:spPr>
          <a:xfrm xmlns:a="http://schemas.openxmlformats.org/drawingml/2006/main">
            <a:off x="720000" y="1260000"/>
            <a:ext cx="18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0A0F1E"/>
                </a:solidFill>
              </a:rPr>
              <a:t>YR</a:t>
            </a:r>
          </a:p>
        </p:txBody>
      </p:sp>
      <p:sp>
        <p:nvSpPr>
          <p:cNvPr id="100035" name="Bio"/>
          <p:cNvSpPr txBox="1"/>
          <p:nvPr/>
        </p:nvSpPr>
        <p:spPr>
          <a:xfrm xmlns:a="http://schemas.openxmlformats.org/drawingml/2006/main">
            <a:off x="2880000" y="1260000"/>
            <a:ext cx="828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>Yogesh Raje is a world-class Technical Trainer and Subject Matter Expert specialising in cutting-edge domains — Agentic AI, Machine Learning, and Quantum Computing.</a:t>
            </a:r>
          </a:p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>With deep expertise spanning academia and industry, he designs and delivers transformative training programs that turn complex theory into actionable skills.</a:t>
            </a:r>
          </a:p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>His pedagogy blends conceptual depth with practical labs, case studies, and real-world project simulations.</a:t>
            </a:r>
          </a:p>
        </p:txBody>
      </p:sp>
      <p:sp>
        <p:nvSpPr>
          <p:cNvPr id="100036" name="S1"/>
          <p:cNvSpPr txBox="1"/>
          <p:nvPr/>
        </p:nvSpPr>
        <p:spPr>
          <a:xfrm xmlns:a="http://schemas.openxmlformats.org/drawingml/2006/main">
            <a:off x="720000" y="342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500+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Professionals Trained</a:t>
            </a:r>
          </a:p>
        </p:txBody>
      </p:sp>
      <p:sp>
        <p:nvSpPr>
          <p:cNvPr id="100037" name="S2"/>
          <p:cNvSpPr txBox="1"/>
          <p:nvPr/>
        </p:nvSpPr>
        <p:spPr>
          <a:xfrm xmlns:a="http://schemas.openxmlformats.org/drawingml/2006/main">
            <a:off x="3600000" y="342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50+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Workshops Delivered</a:t>
            </a:r>
          </a:p>
        </p:txBody>
      </p:sp>
      <p:sp>
        <p:nvSpPr>
          <p:cNvPr id="100038" name="S3"/>
          <p:cNvSpPr txBox="1"/>
          <p:nvPr/>
        </p:nvSpPr>
        <p:spPr>
          <a:xfrm xmlns:a="http://schemas.openxmlformats.org/drawingml/2006/main">
            <a:off x="6480000" y="342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3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Core Specialisations</a:t>
            </a:r>
          </a:p>
        </p:txBody>
      </p:sp>
      <p:sp>
        <p:nvSpPr>
          <p:cNvPr id="100039" name="S4"/>
          <p:cNvSpPr txBox="1"/>
          <p:nvPr/>
        </p:nvSpPr>
        <p:spPr>
          <a:xfrm xmlns:a="http://schemas.openxmlformats.org/drawingml/2006/main">
            <a:off x="9360000" y="342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98%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Satisfaction Rate</a:t>
            </a:r>
          </a:p>
        </p:txBody>
      </p:sp>
      <p:sp>
        <p:nvSpPr>
          <p:cNvPr id="100040" name="Contact"/>
          <p:cNvSpPr txBox="1"/>
          <p:nvPr/>
        </p:nvSpPr>
        <p:spPr>
          <a:xfrm xmlns:a="http://schemas.openxmlformats.org/drawingml/2006/main">
            <a:off x="720000" y="478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8BDF8"/>
                </a:solidFill>
              </a:rPr>
              <a:t>Email: yogesh.raje@aigenius.in   ·   LinkedIn: linkedin.com/in/yogeshraje   ·   Pune, Maharashtra, India</a:t>
            </a:r>
          </a:p>
        </p:txBody>
      </p:sp>
      <p:sp>
        <p:nvSpPr>
          <p:cNvPr id="100041" name="Expertise"/>
          <p:cNvSpPr txBox="1"/>
          <p:nvPr/>
        </p:nvSpPr>
        <p:spPr>
          <a:xfrm xmlns:a="http://schemas.openxmlformats.org/drawingml/2006/main">
            <a:off x="720000" y="5112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🤖 Agentic AI: LLM Agents, IBM Granite, LangChain, AutoGen, CrewAI, RAG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📊 Machine Learning: Deep Learning, NLP, MLOps, TensorFlow, PyTorch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⚛️ Quantum Computing: Qiskit, PennyLane, VQE, QAOA, Quantum ML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42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43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100044" name="Label"/>
          <p:cNvSpPr txBox="1"/>
          <p:nvPr/>
        </p:nvSpPr>
        <p:spPr>
          <a:xfrm xmlns:a="http://schemas.openxmlformats.org/drawingml/2006/main">
            <a:off x="72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METHODOLOGY</a:t>
            </a:r>
          </a:p>
        </p:txBody>
      </p:sp>
      <p:sp>
        <p:nvSpPr>
          <p:cNvPr id="100045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Agentic AI SDLC Methodology</a:t>
            </a:r>
          </a:p>
        </p:txBody>
      </p:sp>
      <p:sp>
        <p:nvSpPr>
          <p:cNvPr id="100046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47" name="Desc"/>
          <p:cNvSpPr txBox="1"/>
          <p:nvPr/>
        </p:nvSpPr>
        <p:spPr>
          <a:xfrm xmlns:a="http://schemas.openxmlformats.org/drawingml/2006/main">
            <a:off x="720000" y="1188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94A3B8"/>
                </a:solidFill>
              </a:rPr>
              <a:t>The Agentic AI SDLC extends the traditional software lifecycle with 3 additional agent-specific concerns: agent capability definition, PAAR loop design, and prompt engineering as code.</a:t>
            </a:r>
          </a:p>
        </p:txBody>
      </p:sp>
      <p:sp>
        <p:nvSpPr>
          <p:cNvPr id="100048" name="Ph1"/>
          <p:cNvSpPr txBox="1"/>
          <p:nvPr/>
        </p:nvSpPr>
        <p:spPr>
          <a:xfrm xmlns:a="http://schemas.openxmlformats.org/drawingml/2006/main">
            <a:off x="36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1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Requirements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100049" name="Ph2"/>
          <p:cNvSpPr txBox="1"/>
          <p:nvPr/>
        </p:nvSpPr>
        <p:spPr>
          <a:xfrm xmlns:a="http://schemas.openxmlformats.org/drawingml/2006/main">
            <a:off x="198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2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Agentic AI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100050" name="Ph3"/>
          <p:cNvSpPr txBox="1"/>
          <p:nvPr/>
        </p:nvSpPr>
        <p:spPr>
          <a:xfrm xmlns:a="http://schemas.openxmlformats.org/drawingml/2006/main">
            <a:off x="360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3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Architecture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&amp; UI/UX</a:t>
            </a:r>
          </a:p>
        </p:txBody>
      </p:sp>
      <p:sp>
        <p:nvSpPr>
          <p:cNvPr id="100051" name="Ph4"/>
          <p:cNvSpPr txBox="1"/>
          <p:nvPr/>
        </p:nvSpPr>
        <p:spPr>
          <a:xfrm xmlns:a="http://schemas.openxmlformats.org/drawingml/2006/main">
            <a:off x="522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4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Development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(5 Sprints)</a:t>
            </a:r>
          </a:p>
        </p:txBody>
      </p:sp>
      <p:sp>
        <p:nvSpPr>
          <p:cNvPr id="100052" name="Ph5"/>
          <p:cNvSpPr txBox="1"/>
          <p:nvPr/>
        </p:nvSpPr>
        <p:spPr>
          <a:xfrm xmlns:a="http://schemas.openxmlformats.org/drawingml/2006/main">
            <a:off x="684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5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Agentic AI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100053" name="Ph6"/>
          <p:cNvSpPr txBox="1"/>
          <p:nvPr/>
        </p:nvSpPr>
        <p:spPr>
          <a:xfrm xmlns:a="http://schemas.openxmlformats.org/drawingml/2006/main">
            <a:off x="846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6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Testing &amp;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00054" name="Ph7"/>
          <p:cNvSpPr txBox="1"/>
          <p:nvPr/>
        </p:nvSpPr>
        <p:spPr>
          <a:xfrm xmlns:a="http://schemas.openxmlformats.org/drawingml/2006/main">
            <a:off x="1008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7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Deployment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&amp; Operations</a:t>
            </a:r>
          </a:p>
        </p:txBody>
      </p:sp>
      <p:sp>
        <p:nvSpPr>
          <p:cNvPr id="100055" name="Arrows"/>
          <p:cNvSpPr txBox="1"/>
          <p:nvPr/>
        </p:nvSpPr>
        <p:spPr>
          <a:xfrm xmlns:a="http://schemas.openxmlformats.org/drawingml/2006/main">
            <a:off x="360000" y="3312000"/>
            <a:ext cx="111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→               →               →               →               →               →</a:t>
            </a:r>
          </a:p>
        </p:txBody>
      </p:sp>
      <p:sp>
        <p:nvSpPr>
          <p:cNvPr id="100056" name="Vs"/>
          <p:cNvSpPr txBox="1"/>
          <p:nvPr/>
        </p:nvSpPr>
        <p:spPr>
          <a:xfrm xmlns:a="http://schemas.openxmlformats.org/drawingml/2006/main">
            <a:off x="720000" y="370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vs Traditional SDLC — 3 additional concerns: Agent Capability Definition  |  PAAR Loop Design  |  Prompt Engineering as Code</a:t>
            </a:r>
          </a:p>
        </p:txBody>
      </p:sp>
      <p:sp>
        <p:nvSpPr>
          <p:cNvPr id="100057" name="AllDone"/>
          <p:cNvSpPr txBox="1"/>
          <p:nvPr/>
        </p:nvSpPr>
        <p:spPr>
          <a:xfrm xmlns:a="http://schemas.openxmlformats.org/drawingml/2006/main">
            <a:off x="720000" y="406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4D399"/>
                </a:solidFill>
              </a:rPr>
              <a:t>✅ All 7 Phases Completed  ·  16 Functional Requirements  ·  9 Non-Functional Requirements  ·  12 Test Cases — All Passed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5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59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100060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PHASE 1  ·  REQUIREMENTS ANALYSIS  ✅</a:t>
            </a:r>
          </a:p>
        </p:txBody>
      </p:sp>
      <p:sp>
        <p:nvSpPr>
          <p:cNvPr id="100061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Requirements &amp; Stakeholders</a:t>
            </a:r>
          </a:p>
        </p:txBody>
      </p:sp>
      <p:sp>
        <p:nvSpPr>
          <p:cNvPr id="100062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63" name="StakeholdersHdr"/>
          <p:cNvSpPr txBox="1"/>
          <p:nvPr/>
        </p:nvSpPr>
        <p:spPr>
          <a:xfrm xmlns:a="http://schemas.openxmlformats.org/drawingml/2006/main">
            <a:off x="720000" y="1224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STAKEHOLDERS</a:t>
            </a:r>
          </a:p>
        </p:txBody>
      </p:sp>
      <p:sp>
        <p:nvSpPr>
          <p:cNvPr id="100064" name="Stakeholders"/>
          <p:cNvSpPr txBox="1"/>
          <p:nvPr/>
        </p:nvSpPr>
        <p:spPr>
          <a:xfrm xmlns:a="http://schemas.openxmlformats.org/drawingml/2006/main">
            <a:off x="720000" y="1476000"/>
            <a:ext cx="50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• Yogesh Raje — Portfolio Owner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• Prospective Training Clients — End Users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• Corporate HR / L&amp;D Teams — Decision Makers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• University Students — End Users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• IBM watsonx.ai — AI Platform Provider</a:t>
            </a:r>
          </a:p>
        </p:txBody>
      </p:sp>
      <p:sp>
        <p:nvSpPr>
          <p:cNvPr id="100065" name="FRHdr"/>
          <p:cNvSpPr txBox="1"/>
          <p:nvPr/>
        </p:nvSpPr>
        <p:spPr>
          <a:xfrm xmlns:a="http://schemas.openxmlformats.org/drawingml/2006/main">
            <a:off x="6120000" y="1224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FUNCTIONAL REQUIREMENTS (16)</a:t>
            </a:r>
          </a:p>
        </p:txBody>
      </p:sp>
      <p:sp>
        <p:nvSpPr>
          <p:cNvPr id="100066" name="FRs"/>
          <p:cNvSpPr txBox="1"/>
          <p:nvPr/>
        </p:nvSpPr>
        <p:spPr>
          <a:xfrm xmlns:a="http://schemas.openxmlformats.org/drawingml/2006/main">
            <a:off x="6120000" y="1476000"/>
            <a:ext cx="54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FR-01  Hero section — animated gradient, 3 CTAs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FR-02  About — biography, orbital animation, stats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FR-03  Expertise cards (Agentic AI, ML, Quantum)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FR-04  16 animated skill proficiency bars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FR-05  6 Training program cards with level badges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FR-06  Testimonials from Infosys, IIT Bombay, TCS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FR-07  Contact form + contact details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FR-08  Responsive nav with scroll-spy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FR-09 to FR-16  IBM Granite AI chat widget</a:t>
            </a:r>
          </a:p>
        </p:txBody>
      </p:sp>
      <p:sp>
        <p:nvSpPr>
          <p:cNvPr id="100067" name="NFRHdr"/>
          <p:cNvSpPr txBox="1"/>
          <p:nvPr/>
        </p:nvSpPr>
        <p:spPr>
          <a:xfrm xmlns:a="http://schemas.openxmlformats.org/drawingml/2006/main">
            <a:off x="720000" y="316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NON-FUNCTIONAL REQUIREMENTS (9)</a:t>
            </a:r>
          </a:p>
        </p:txBody>
      </p:sp>
      <p:sp>
        <p:nvSpPr>
          <p:cNvPr id="100068" name="NFRs"/>
          <p:cNvSpPr txBox="1"/>
          <p:nvPr/>
        </p:nvSpPr>
        <p:spPr>
          <a:xfrm xmlns:a="http://schemas.openxmlformats.org/drawingml/2006/main">
            <a:off x="720000" y="3420000"/>
            <a:ext cx="104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Performance: Page load &lt; 2s  ·  AI response &lt; 5s  |  Security: API key server-side only — never exposed to browser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Compatibility: Chrome 90+, Firefox 88+, Safari 14+, Edge 90+  |  Zero npm dependencies  |  Node.js &gt;= 18.x</a:t>
            </a:r>
          </a:p>
        </p:txBody>
      </p:sp>
      <p:sp>
        <p:nvSpPr>
          <p:cNvPr id="100069" name="Constraints"/>
          <p:cNvSpPr txBox="1"/>
          <p:nvPr/>
        </p:nvSpPr>
        <p:spPr>
          <a:xfrm xmlns:a="http://schemas.openxmlformats.org/drawingml/2006/main">
            <a:off x="720000" y="4320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94A3B8"/>
                </a:solidFill>
              </a:rPr>
              <a:t>Constraints: Zero npm deps  ·  Single HTML file  ·  IBM Granite model only  ·  Windows-first (.bat)  ·  No database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7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071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100072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PHASE 2  ·  AGENTIC AI SYSTEM DESIGN  ✅</a:t>
            </a:r>
          </a:p>
        </p:txBody>
      </p:sp>
      <p:sp>
        <p:nvSpPr>
          <p:cNvPr id="100073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PAAR Agentic Loop Design</a:t>
            </a:r>
          </a:p>
        </p:txBody>
      </p:sp>
      <p:sp>
        <p:nvSpPr>
          <p:cNvPr id="100074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075" name="PAARTitle"/>
          <p:cNvSpPr txBox="1"/>
          <p:nvPr/>
        </p:nvSpPr>
        <p:spPr>
          <a:xfrm xmlns:a="http://schemas.openxmlformats.org/drawingml/2006/main">
            <a:off x="720000" y="118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818CF8"/>
                </a:solidFill>
              </a:rPr>
              <a:t>THE PAAR LOOP — Core Agentic Pattern (as taught by Yogesh Raje)</a:t>
            </a:r>
          </a:p>
        </p:txBody>
      </p:sp>
      <p:sp>
        <p:nvSpPr>
          <p:cNvPr id="100076" name="P"/>
          <p:cNvSpPr txBox="1"/>
          <p:nvPr/>
        </p:nvSpPr>
        <p:spPr>
          <a:xfrm xmlns:a="http://schemas.openxmlformats.org/drawingml/2006/main">
            <a:off x="360000" y="1512000"/>
            <a:ext cx="23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PERCEIVE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Parse user message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Extract intent signals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Build context from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conversation history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(last 12 turns)</a:t>
            </a:r>
          </a:p>
        </p:txBody>
      </p:sp>
      <p:sp>
        <p:nvSpPr>
          <p:cNvPr id="100077" name="Arr1"/>
          <p:cNvSpPr txBox="1"/>
          <p:nvPr/>
        </p:nvSpPr>
        <p:spPr>
          <a:xfrm xmlns:a="http://schemas.openxmlformats.org/drawingml/2006/main">
            <a:off x="2808000" y="252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078" name="A"/>
          <p:cNvSpPr txBox="1"/>
          <p:nvPr/>
        </p:nvSpPr>
        <p:spPr>
          <a:xfrm xmlns:a="http://schemas.openxmlformats.org/drawingml/2006/main">
            <a:off x="3600000" y="1512000"/>
            <a:ext cx="23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ASSESS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Classify intent: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• PROGRAM_QUERY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• BOOKING_REQUEST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• TECHNICAL_Q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• ABOUT_YOGESH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• GENERAL</a:t>
            </a:r>
          </a:p>
        </p:txBody>
      </p:sp>
      <p:sp>
        <p:nvSpPr>
          <p:cNvPr id="100079" name="Arr2"/>
          <p:cNvSpPr txBox="1"/>
          <p:nvPr/>
        </p:nvSpPr>
        <p:spPr>
          <a:xfrm xmlns:a="http://schemas.openxmlformats.org/drawingml/2006/main">
            <a:off x="6048000" y="252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080" name="Act"/>
          <p:cNvSpPr txBox="1"/>
          <p:nvPr/>
        </p:nvSpPr>
        <p:spPr>
          <a:xfrm xmlns:a="http://schemas.openxmlformats.org/drawingml/2006/main">
            <a:off x="6840000" y="1512000"/>
            <a:ext cx="23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ACT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Call IBM Granite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via watsonx.ai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OR return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intelligent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fallback response</a:t>
            </a:r>
          </a:p>
        </p:txBody>
      </p:sp>
      <p:sp>
        <p:nvSpPr>
          <p:cNvPr id="100081" name="Arr3"/>
          <p:cNvSpPr txBox="1"/>
          <p:nvPr/>
        </p:nvSpPr>
        <p:spPr>
          <a:xfrm xmlns:a="http://schemas.openxmlformats.org/drawingml/2006/main">
            <a:off x="9288000" y="252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082" name="R"/>
          <p:cNvSpPr txBox="1"/>
          <p:nvPr/>
        </p:nvSpPr>
        <p:spPr>
          <a:xfrm xmlns:a="http://schemas.openxmlformats.org/drawingml/2006/main">
            <a:off x="10080000" y="1512000"/>
            <a:ext cx="198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REFLECT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Persona constraints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&lt; 250 words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No fabrication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Direct bookings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to contact form</a:t>
            </a:r>
          </a:p>
        </p:txBody>
      </p:sp>
      <p:sp>
        <p:nvSpPr>
          <p:cNvPr id="100083" name="Tools"/>
          <p:cNvSpPr txBox="1"/>
          <p:nvPr/>
        </p:nvSpPr>
        <p:spPr>
          <a:xfrm xmlns:a="http://schemas.openxmlformats.org/drawingml/2006/main">
            <a:off x="720000" y="424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Agent Tools: IBM Granite LLM  ·  IAM Token Fetcher  ·  Conversation Memory (12 turns)  ·  Intent Classifier  ·  Markdown Renderer</a:t>
            </a:r>
          </a:p>
        </p:txBody>
      </p:sp>
      <p:sp>
        <p:nvSpPr>
          <p:cNvPr id="100084" name="Params"/>
          <p:cNvSpPr txBox="1"/>
          <p:nvPr/>
        </p:nvSpPr>
        <p:spPr>
          <a:xfrm xmlns:a="http://schemas.openxmlformats.org/drawingml/2006/main">
            <a:off x="720000" y="460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4A3B8"/>
                </a:solidFill>
              </a:rPr>
              <a:t>Model: ibm/granite-3-3-8b-instruct  ·  Max tokens: 600  ·  Temperature: 0.7  ·  Top-P: 0.95  ·  Repetition penalty: 1.1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85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086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100087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PHASE 3  ·  ARCHITECTURE &amp; UI/UX DESIGN  ✅</a:t>
            </a:r>
          </a:p>
        </p:txBody>
      </p:sp>
      <p:sp>
        <p:nvSpPr>
          <p:cNvPr id="100088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3-Tier System Architecture</a:t>
            </a:r>
          </a:p>
        </p:txBody>
      </p:sp>
      <p:sp>
        <p:nvSpPr>
          <p:cNvPr id="100089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090" name="Layer1"/>
          <p:cNvSpPr txBox="1"/>
          <p:nvPr/>
        </p:nvSpPr>
        <p:spPr>
          <a:xfrm xmlns:a="http://schemas.openxmlformats.org/drawingml/2006/main">
            <a:off x="720000" y="1224000"/>
            <a:ext cx="104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TIER 1 — CLIENT BROWSER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index.html (HTML5 + CSS3 + Vanilla JS)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Portfolio Sections  |  AI Chat FAB + Panel  |  PAAR Loop Client  |  Markdown Renderer</a:t>
            </a:r>
          </a:p>
        </p:txBody>
      </p:sp>
      <p:sp>
        <p:nvSpPr>
          <p:cNvPr id="100091" name="Arrow1"/>
          <p:cNvSpPr txBox="1"/>
          <p:nvPr/>
        </p:nvSpPr>
        <p:spPr>
          <a:xfrm xmlns:a="http://schemas.openxmlformats.org/drawingml/2006/main">
            <a:off x="720000" y="208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↕  HTTP POST /api/chat  { messages: [...] }   +   HTTP GET /   Static file serving</a:t>
            </a:r>
          </a:p>
        </p:txBody>
      </p:sp>
      <p:sp>
        <p:nvSpPr>
          <p:cNvPr id="100092" name="Layer2"/>
          <p:cNvSpPr txBox="1"/>
          <p:nvPr/>
        </p:nvSpPr>
        <p:spPr>
          <a:xfrm xmlns:a="http://schemas.openxmlformats.org/drawingml/2006/main">
            <a:off x="720000" y="2376000"/>
            <a:ext cx="104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TIER 2 — NODE.JS SERVER  (server.js)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Built-in .env Loader  |  Static File Server  |  POST /api/chat Handler  |  IBM IAM Token Exchange + Cache (3400s)  |  callGranite() — watsonx.ai REST call</a:t>
            </a:r>
          </a:p>
        </p:txBody>
      </p:sp>
      <p:sp>
        <p:nvSpPr>
          <p:cNvPr id="100093" name="Arrow2"/>
          <p:cNvSpPr txBox="1"/>
          <p:nvPr/>
        </p:nvSpPr>
        <p:spPr>
          <a:xfrm xmlns:a="http://schemas.openxmlformats.org/drawingml/2006/main">
            <a:off x="720000" y="324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↕  HTTPS POST /ml/v1/text/chat?version=2023-05-29   +   IBM IAM /identity/token</a:t>
            </a:r>
          </a:p>
        </p:txBody>
      </p:sp>
      <p:sp>
        <p:nvSpPr>
          <p:cNvPr id="100094" name="Layer3"/>
          <p:cNvSpPr txBox="1"/>
          <p:nvPr/>
        </p:nvSpPr>
        <p:spPr>
          <a:xfrm xmlns:a="http://schemas.openxmlformats.org/drawingml/2006/main">
            <a:off x="720000" y="3528000"/>
            <a:ext cx="104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TIER 3 — IBM CLOUD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IBM IAM (iam.cloud.ibm.com) → Bearer Token     |     IBM watsonx.ai (us-south.ml.cloud.ibm.com)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Model: ibm/granite-3-3-8b-instruct  |  API: Text Chat v2023-05-29</a:t>
            </a:r>
          </a:p>
        </p:txBody>
      </p:sp>
      <p:sp>
        <p:nvSpPr>
          <p:cNvPr id="100095" name="UIHdr"/>
          <p:cNvSpPr txBox="1"/>
          <p:nvPr/>
        </p:nvSpPr>
        <p:spPr>
          <a:xfrm xmlns:a="http://schemas.openxmlformats.org/drawingml/2006/main">
            <a:off x="720000" y="450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UI/UX COLOUR SYSTEM</a:t>
            </a:r>
          </a:p>
        </p:txBody>
      </p:sp>
      <p:sp>
        <p:nvSpPr>
          <p:cNvPr id="100096" name="C1"/>
          <p:cNvSpPr txBox="1"/>
          <p:nvPr/>
        </p:nvSpPr>
        <p:spPr>
          <a:xfrm xmlns:a="http://schemas.openxmlformats.org/drawingml/2006/main">
            <a:off x="720000" y="4752000"/>
            <a:ext cx="1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BG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#0A0F1E</a:t>
            </a:r>
          </a:p>
        </p:txBody>
      </p:sp>
      <p:sp>
        <p:nvSpPr>
          <p:cNvPr id="100097" name="C2"/>
          <p:cNvSpPr txBox="1"/>
          <p:nvPr/>
        </p:nvSpPr>
        <p:spPr>
          <a:xfrm xmlns:a="http://schemas.openxmlformats.org/drawingml/2006/main">
            <a:off x="1908000" y="4752000"/>
            <a:ext cx="1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Surface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#111827</a:t>
            </a:r>
          </a:p>
        </p:txBody>
      </p:sp>
      <p:sp>
        <p:nvSpPr>
          <p:cNvPr id="100098" name="C3"/>
          <p:cNvSpPr txBox="1"/>
          <p:nvPr/>
        </p:nvSpPr>
        <p:spPr>
          <a:xfrm xmlns:a="http://schemas.openxmlformats.org/drawingml/2006/main">
            <a:off x="3096000" y="4752000"/>
            <a:ext cx="1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Accent</a:t>
            </a:r>
          </a:p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#38BDF8</a:t>
            </a:r>
          </a:p>
        </p:txBody>
      </p:sp>
      <p:sp>
        <p:nvSpPr>
          <p:cNvPr id="100099" name="C4"/>
          <p:cNvSpPr txBox="1"/>
          <p:nvPr/>
        </p:nvSpPr>
        <p:spPr>
          <a:xfrm xmlns:a="http://schemas.openxmlformats.org/drawingml/2006/main">
            <a:off x="4284000" y="4752000"/>
            <a:ext cx="1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AI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#818CF8</a:t>
            </a:r>
          </a:p>
        </p:txBody>
      </p:sp>
      <p:sp>
        <p:nvSpPr>
          <p:cNvPr id="100100" name="C5"/>
          <p:cNvSpPr txBox="1"/>
          <p:nvPr/>
        </p:nvSpPr>
        <p:spPr>
          <a:xfrm xmlns:a="http://schemas.openxmlformats.org/drawingml/2006/main">
            <a:off x="5472000" y="4752000"/>
            <a:ext cx="1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Green</a:t>
            </a:r>
          </a:p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#34D399</a:t>
            </a:r>
          </a:p>
        </p:txBody>
      </p:sp>
      <p:sp>
        <p:nvSpPr>
          <p:cNvPr id="100101" name="UIFeatures"/>
          <p:cNvSpPr txBox="1"/>
          <p:nvPr/>
        </p:nvSpPr>
        <p:spPr>
          <a:xfrm xmlns:a="http://schemas.openxmlformats.org/drawingml/2006/main">
            <a:off x="6840000" y="4752000"/>
            <a:ext cx="50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4A3B8"/>
                </a:solidFill>
              </a:rPr>
              <a:t>Dark-first theme  ·  Mobile-first responsive (768px breakpoint)  ·  Zero external requests  ·  Single HTML file  ·  CSS animations (orbital rings, pulse, skill bars)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02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03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09</a:t>
            </a:r>
          </a:p>
        </p:txBody>
      </p:sp>
      <p:sp>
        <p:nvSpPr>
          <p:cNvPr id="100104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PHASE 4  ·  DEVELOPMENT  ✅  (5 SPRINTS)</a:t>
            </a:r>
          </a:p>
        </p:txBody>
      </p:sp>
      <p:sp>
        <p:nvSpPr>
          <p:cNvPr id="100105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Development Sprints &amp; Portfolio Sections</a:t>
            </a:r>
          </a:p>
        </p:txBody>
      </p:sp>
      <p:sp>
        <p:nvSpPr>
          <p:cNvPr id="100106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07" name="Sp1"/>
          <p:cNvSpPr txBox="1"/>
          <p:nvPr/>
        </p:nvSpPr>
        <p:spPr>
          <a:xfrm xmlns:a="http://schemas.openxmlformats.org/drawingml/2006/main">
            <a:off x="360000" y="1224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Sprint 1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Static Portfolio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Nav (scroll-spy)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Hero — gradient name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About — orbital rings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Stat cards</a:t>
            </a:r>
          </a:p>
        </p:txBody>
      </p:sp>
      <p:sp>
        <p:nvSpPr>
          <p:cNvPr id="100108" name="Sp2"/>
          <p:cNvSpPr txBox="1"/>
          <p:nvPr/>
        </p:nvSpPr>
        <p:spPr>
          <a:xfrm xmlns:a="http://schemas.openxmlformats.org/drawingml/2006/main">
            <a:off x="2700000" y="1224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Sprint 2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Domain Content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Expertise cards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Skills (16 bars)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6 Programs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Testimonials</a:t>
            </a:r>
          </a:p>
        </p:txBody>
      </p:sp>
      <p:sp>
        <p:nvSpPr>
          <p:cNvPr id="100109" name="Sp3"/>
          <p:cNvSpPr txBox="1"/>
          <p:nvPr/>
        </p:nvSpPr>
        <p:spPr>
          <a:xfrm xmlns:a="http://schemas.openxmlformats.org/drawingml/2006/main">
            <a:off x="5040000" y="1224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Sprint 3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Contact &amp; Footer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Contact form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Contact info panel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Footer (IBM badge)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Responsive layout</a:t>
            </a:r>
          </a:p>
        </p:txBody>
      </p:sp>
      <p:sp>
        <p:nvSpPr>
          <p:cNvPr id="100110" name="Sp4"/>
          <p:cNvSpPr txBox="1"/>
          <p:nvPr/>
        </p:nvSpPr>
        <p:spPr>
          <a:xfrm xmlns:a="http://schemas.openxmlformats.org/drawingml/2006/main">
            <a:off x="7380000" y="1224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Sprint 4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AI Chat Widget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Floating FAB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Chat panel + thread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Typing indicator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Fallback classifier</a:t>
            </a:r>
          </a:p>
        </p:txBody>
      </p:sp>
      <p:sp>
        <p:nvSpPr>
          <p:cNvPr id="100111" name="Sp5"/>
          <p:cNvSpPr txBox="1"/>
          <p:nvPr/>
        </p:nvSpPr>
        <p:spPr>
          <a:xfrm xmlns:a="http://schemas.openxmlformats.org/drawingml/2006/main">
            <a:off x="9720000" y="1224000"/>
            <a:ext cx="198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Sprint 5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Node.js Server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.env loader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IAM token cache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callGranite()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Static server</a:t>
            </a:r>
          </a:p>
        </p:txBody>
      </p:sp>
      <p:sp>
        <p:nvSpPr>
          <p:cNvPr id="100112" name="ScreenTitle"/>
          <p:cNvSpPr txBox="1"/>
          <p:nvPr/>
        </p:nvSpPr>
        <p:spPr>
          <a:xfrm xmlns:a="http://schemas.openxmlformats.org/drawingml/2006/main">
            <a:off x="720000" y="360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PORTFOLIO SECTIONS — Visual Layout (localhost:3000)</a:t>
            </a:r>
          </a:p>
        </p:txBody>
      </p:sp>
      <p:sp>
        <p:nvSpPr>
          <p:cNvPr id="100113" name="Sec1"/>
          <p:cNvSpPr txBox="1"/>
          <p:nvPr/>
        </p:nvSpPr>
        <p:spPr>
          <a:xfrm xmlns:a="http://schemas.openxmlformats.org/drawingml/2006/main">
            <a:off x="360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HERO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Yogesh Raje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Animated gradient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3 CTA buttons</a:t>
            </a:r>
          </a:p>
        </p:txBody>
      </p:sp>
      <p:sp>
        <p:nvSpPr>
          <p:cNvPr id="100114" name="Sec2"/>
          <p:cNvSpPr txBox="1"/>
          <p:nvPr/>
        </p:nvSpPr>
        <p:spPr>
          <a:xfrm xmlns:a="http://schemas.openxmlformats.org/drawingml/2006/main">
            <a:off x="1908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ABOUT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Orbital rings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Bio paragraphs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4 stat cards</a:t>
            </a:r>
          </a:p>
        </p:txBody>
      </p:sp>
      <p:sp>
        <p:nvSpPr>
          <p:cNvPr id="100115" name="Sec3"/>
          <p:cNvSpPr txBox="1"/>
          <p:nvPr/>
        </p:nvSpPr>
        <p:spPr>
          <a:xfrm xmlns:a="http://schemas.openxmlformats.org/drawingml/2006/main">
            <a:off x="3456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EXPERTISE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3 domain cards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AI · ML · Quantum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Tag pill badges</a:t>
            </a:r>
          </a:p>
        </p:txBody>
      </p:sp>
      <p:sp>
        <p:nvSpPr>
          <p:cNvPr id="100116" name="Sec4"/>
          <p:cNvSpPr txBox="1"/>
          <p:nvPr/>
        </p:nvSpPr>
        <p:spPr>
          <a:xfrm xmlns:a="http://schemas.openxmlformats.org/drawingml/2006/main">
            <a:off x="5004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SKILLS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16 bars animated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4 skill groups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CSS transitions</a:t>
            </a:r>
          </a:p>
        </p:txBody>
      </p:sp>
      <p:sp>
        <p:nvSpPr>
          <p:cNvPr id="100117" name="Sec5"/>
          <p:cNvSpPr txBox="1"/>
          <p:nvPr/>
        </p:nvSpPr>
        <p:spPr>
          <a:xfrm xmlns:a="http://schemas.openxmlformats.org/drawingml/2006/main">
            <a:off x="6552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PROGRAMS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6 program cards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Level badges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Duration + format</a:t>
            </a:r>
          </a:p>
        </p:txBody>
      </p:sp>
      <p:sp>
        <p:nvSpPr>
          <p:cNvPr id="100118" name="Sec6"/>
          <p:cNvSpPr txBox="1"/>
          <p:nvPr/>
        </p:nvSpPr>
        <p:spPr>
          <a:xfrm xmlns:a="http://schemas.openxmlformats.org/drawingml/2006/main">
            <a:off x="8100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TESTIMONIALS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Infosys · IIT Bombay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TCS reviews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Card layout</a:t>
            </a:r>
          </a:p>
        </p:txBody>
      </p:sp>
      <p:sp>
        <p:nvSpPr>
          <p:cNvPr id="100119" name="Sec7"/>
          <p:cNvSpPr txBox="1"/>
          <p:nvPr/>
        </p:nvSpPr>
        <p:spPr>
          <a:xfrm xmlns:a="http://schemas.openxmlformats.org/drawingml/2006/main">
            <a:off x="9648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CONTACT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Enquiry form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Contact details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AI assistant link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2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121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100122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PHASE 5  ·  IBM GRANITE AI INTEGRATION  ✅</a:t>
            </a:r>
          </a:p>
        </p:txBody>
      </p:sp>
      <p:sp>
        <p:nvSpPr>
          <p:cNvPr id="100123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IBM Granite API Integration</a:t>
            </a:r>
          </a:p>
        </p:txBody>
      </p:sp>
      <p:sp>
        <p:nvSpPr>
          <p:cNvPr id="100124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125" name="FlowTitle"/>
          <p:cNvSpPr txBox="1"/>
          <p:nvPr/>
        </p:nvSpPr>
        <p:spPr>
          <a:xfrm xmlns:a="http://schemas.openxmlformats.org/drawingml/2006/main">
            <a:off x="720000" y="118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END-TO-END AGENTIC AI FLOW</a:t>
            </a:r>
          </a:p>
        </p:txBody>
      </p:sp>
      <p:sp>
        <p:nvSpPr>
          <p:cNvPr id="100126" name="Step1"/>
          <p:cNvSpPr txBox="1"/>
          <p:nvPr/>
        </p:nvSpPr>
        <p:spPr>
          <a:xfrm xmlns:a="http://schemas.openxmlformats.org/drawingml/2006/main">
            <a:off x="360000" y="1512000"/>
            <a:ext cx="16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1  User types message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in chat widget</a:t>
            </a:r>
          </a:p>
        </p:txBody>
      </p:sp>
      <p:sp>
        <p:nvSpPr>
          <p:cNvPr id="100127" name="Arr1"/>
          <p:cNvSpPr txBox="1"/>
          <p:nvPr/>
        </p:nvSpPr>
        <p:spPr>
          <a:xfrm xmlns:a="http://schemas.openxmlformats.org/drawingml/2006/main">
            <a:off x="2088000" y="1800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128" name="Step2"/>
          <p:cNvSpPr txBox="1"/>
          <p:nvPr/>
        </p:nvSpPr>
        <p:spPr>
          <a:xfrm xmlns:a="http://schemas.openxmlformats.org/drawingml/2006/main">
            <a:off x="2700000" y="1512000"/>
            <a:ext cx="16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2  Browser sends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POST /api/chat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{messages:[...]}</a:t>
            </a:r>
          </a:p>
        </p:txBody>
      </p:sp>
      <p:sp>
        <p:nvSpPr>
          <p:cNvPr id="100129" name="Arr2"/>
          <p:cNvSpPr txBox="1"/>
          <p:nvPr/>
        </p:nvSpPr>
        <p:spPr>
          <a:xfrm xmlns:a="http://schemas.openxmlformats.org/drawingml/2006/main">
            <a:off x="4392000" y="1800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130" name="Step3"/>
          <p:cNvSpPr txBox="1"/>
          <p:nvPr/>
        </p:nvSpPr>
        <p:spPr>
          <a:xfrm xmlns:a="http://schemas.openxmlformats.org/drawingml/2006/main">
            <a:off x="5040000" y="1512000"/>
            <a:ext cx="16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3  server.js fetches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IBM IAM token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(cached 3400s)</a:t>
            </a:r>
          </a:p>
        </p:txBody>
      </p:sp>
      <p:sp>
        <p:nvSpPr>
          <p:cNvPr id="100131" name="Arr3"/>
          <p:cNvSpPr txBox="1"/>
          <p:nvPr/>
        </p:nvSpPr>
        <p:spPr>
          <a:xfrm xmlns:a="http://schemas.openxmlformats.org/drawingml/2006/main">
            <a:off x="6732000" y="1800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132" name="Step4"/>
          <p:cNvSpPr txBox="1"/>
          <p:nvPr/>
        </p:nvSpPr>
        <p:spPr>
          <a:xfrm xmlns:a="http://schemas.openxmlformats.org/drawingml/2006/main">
            <a:off x="7380000" y="1512000"/>
            <a:ext cx="16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4  callGranite()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POST to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watsonx.ai API</a:t>
            </a:r>
          </a:p>
        </p:txBody>
      </p:sp>
      <p:sp>
        <p:nvSpPr>
          <p:cNvPr id="100133" name="Arr4"/>
          <p:cNvSpPr txBox="1"/>
          <p:nvPr/>
        </p:nvSpPr>
        <p:spPr>
          <a:xfrm xmlns:a="http://schemas.openxmlformats.org/drawingml/2006/main">
            <a:off x="9072000" y="1800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134" name="Step5"/>
          <p:cNvSpPr txBox="1"/>
          <p:nvPr/>
        </p:nvSpPr>
        <p:spPr>
          <a:xfrm xmlns:a="http://schemas.openxmlformats.org/drawingml/2006/main">
            <a:off x="9720000" y="1512000"/>
            <a:ext cx="19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5  Granite replies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{reply, model}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Browser renders</a:t>
            </a:r>
          </a:p>
        </p:txBody>
      </p:sp>
      <p:sp>
        <p:nvSpPr>
          <p:cNvPr id="100135" name="ConfigHdr"/>
          <p:cNvSpPr txBox="1"/>
          <p:nvPr/>
        </p:nvSpPr>
        <p:spPr>
          <a:xfrm xmlns:a="http://schemas.openxmlformats.org/drawingml/2006/main">
            <a:off x="720000" y="262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IBM GRANITE API CONFIGURATION</a:t>
            </a:r>
          </a:p>
        </p:txBody>
      </p:sp>
      <p:sp>
        <p:nvSpPr>
          <p:cNvPr id="100136" name="Config"/>
          <p:cNvSpPr txBox="1"/>
          <p:nvPr/>
        </p:nvSpPr>
        <p:spPr>
          <a:xfrm xmlns:a="http://schemas.openxmlformats.org/drawingml/2006/main">
            <a:off x="720000" y="2880000"/>
            <a:ext cx="1044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Model ID:    ibm/granite-3-3-8b-instruct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Endpoint:    https://us-south.ml.cloud.ibm.com/ml/v1/text/chat?version=2023-05-29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Auth:          IBM IAM OAuth 2.0  →  API Key to Bearer Token  →  Cached 3400s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Parameters: max_new_tokens: 600  |  temperature: 0.7  |  top_p: 0.95  |  rep_penalty: 1.1</a:t>
            </a:r>
          </a:p>
        </p:txBody>
      </p:sp>
      <p:sp>
        <p:nvSpPr>
          <p:cNvPr id="100137" name="EnvHdr"/>
          <p:cNvSpPr txBox="1"/>
          <p:nvPr/>
        </p:nvSpPr>
        <p:spPr>
          <a:xfrm xmlns:a="http://schemas.openxmlformats.org/drawingml/2006/main">
            <a:off x="720000" y="4212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.ENV CONFIGURATION (gitignored — never committed)</a:t>
            </a:r>
          </a:p>
        </p:txBody>
      </p:sp>
      <p:sp>
        <p:nvSpPr>
          <p:cNvPr id="100138" name="Env"/>
          <p:cNvSpPr txBox="1"/>
          <p:nvPr/>
        </p:nvSpPr>
        <p:spPr>
          <a:xfrm xmlns:a="http://schemas.openxmlformats.org/drawingml/2006/main">
            <a:off x="720000" y="4464000"/>
            <a:ext cx="1044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IBM_API_KEY=your_ibm_cloud_api_key   |   IBM_PROJECT_ID=your_watsonx_project_id   |   IBM_REGION=us-south   |   PORT=3000</a:t>
            </a:r>
          </a:p>
        </p:txBody>
      </p:sp>
      <p:sp>
        <p:nvSpPr>
          <p:cNvPr id="100139" name="Security"/>
          <p:cNvSpPr txBox="1"/>
          <p:nvPr/>
        </p:nvSpPr>
        <p:spPr>
          <a:xfrm xmlns:a="http://schemas.openxmlformats.org/drawingml/2006/main">
            <a:off x="720000" y="500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Security: API key stored SERVER-SIDE ONLY in .env — never sent to or exposed in the browser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4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141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11</a:t>
            </a:r>
          </a:p>
        </p:txBody>
      </p:sp>
      <p:sp>
        <p:nvSpPr>
          <p:cNvPr id="100142" name="Label"/>
          <p:cNvSpPr txBox="1"/>
          <p:nvPr/>
        </p:nvSpPr>
        <p:spPr>
          <a:xfrm xmlns:a="http://schemas.openxmlformats.org/drawingml/2006/main">
            <a:off x="720000" y="36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PHASE 6  ·  TESTING &amp; VALIDATION  ✅  (12 TEST CASES — ALL PASSED)</a:t>
            </a:r>
          </a:p>
        </p:txBody>
      </p:sp>
      <p:sp>
        <p:nvSpPr>
          <p:cNvPr id="100143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Testing &amp; Validation Results</a:t>
            </a:r>
          </a:p>
        </p:txBody>
      </p:sp>
      <p:sp>
        <p:nvSpPr>
          <p:cNvPr id="100144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145" name="UIHdr"/>
          <p:cNvSpPr txBox="1"/>
          <p:nvPr/>
        </p:nvSpPr>
        <p:spPr>
          <a:xfrm xmlns:a="http://schemas.openxmlformats.org/drawingml/2006/main">
            <a:off x="720000" y="1224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PORTFOLIO UI TESTS (6)</a:t>
            </a:r>
          </a:p>
        </p:txBody>
      </p:sp>
      <p:sp>
        <p:nvSpPr>
          <p:cNvPr id="100146" name="UITests"/>
          <p:cNvSpPr txBox="1"/>
          <p:nvPr/>
        </p:nvSpPr>
        <p:spPr>
          <a:xfrm xmlns:a="http://schemas.openxmlformats.org/drawingml/2006/main">
            <a:off x="720000" y="1476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UI-01  GET / → HTTP 200 (52,912 bytes served)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UI-02  Nav scroll-spy — active link updates on scroll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UI-03  Hero CTA buttons — smooth scroll to #programs, #contact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UI-04  Skill bars — render at correct widths with animation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UI-05  Contact form — 'Message Sent!' feedback, auto-reset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UI-06  Mobile responsive — layout adapts at 768px breakpoint</a:t>
            </a:r>
          </a:p>
        </p:txBody>
      </p:sp>
      <p:sp>
        <p:nvSpPr>
          <p:cNvPr id="100147" name="AIHdr"/>
          <p:cNvSpPr txBox="1"/>
          <p:nvPr/>
        </p:nvSpPr>
        <p:spPr>
          <a:xfrm xmlns:a="http://schemas.openxmlformats.org/drawingml/2006/main">
            <a:off x="6300000" y="1224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AGENTIC AI TESTS (6)</a:t>
            </a:r>
          </a:p>
        </p:txBody>
      </p:sp>
      <p:sp>
        <p:nvSpPr>
          <p:cNvPr id="100148" name="AITests"/>
          <p:cNvSpPr txBox="1"/>
          <p:nvPr/>
        </p:nvSpPr>
        <p:spPr>
          <a:xfrm xmlns:a="http://schemas.openxmlformats.org/drawingml/2006/main">
            <a:off x="6300000" y="1476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AI-01  Chat panel opens, input focused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AI-02  'What is Agentic AI?' → Granite response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AI-03  Multi-turn follow-up — context maintained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AI-04  Booking query → directs to contact form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AI-05  No API key → intelligent fallback served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AI-06  Suggested prompts → hides chips, sends query</a:t>
            </a:r>
          </a:p>
        </p:txBody>
      </p:sp>
      <p:sp>
        <p:nvSpPr>
          <p:cNvPr id="100149" name="ACHdr"/>
          <p:cNvSpPr txBox="1"/>
          <p:nvPr/>
        </p:nvSpPr>
        <p:spPr>
          <a:xfrm xmlns:a="http://schemas.openxmlformats.org/drawingml/2006/main">
            <a:off x="720000" y="388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ACCEPTANCE CRITERIA — ALL 8 MET</a:t>
            </a:r>
          </a:p>
        </p:txBody>
      </p:sp>
      <p:sp>
        <p:nvSpPr>
          <p:cNvPr id="100150" name="ACs"/>
          <p:cNvSpPr txBox="1"/>
          <p:nvPr/>
        </p:nvSpPr>
        <p:spPr>
          <a:xfrm xmlns:a="http://schemas.openxmlformats.org/drawingml/2006/main">
            <a:off x="720000" y="4140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Portfolio loads with zero external HTTP requests   ✅ AI chat widget visible on every section   ✅ IBM Granite responds to queries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API key never exposed in browser   ✅ Fallback mode works without API key   ✅ All 8 sections render on mobile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Server starts: node server.js   ✅ .bat file requires no npm install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51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52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12</a:t>
            </a:r>
          </a:p>
        </p:txBody>
      </p:sp>
      <p:sp>
        <p:nvSpPr>
          <p:cNvPr id="100153" name="Label"/>
          <p:cNvSpPr txBox="1"/>
          <p:nvPr/>
        </p:nvSpPr>
        <p:spPr>
          <a:xfrm xmlns:a="http://schemas.openxmlformats.org/drawingml/2006/main">
            <a:off x="720000" y="36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PORTFOLIO SCREENSHOT — HERO SECTION  (localhost:3000)</a:t>
            </a:r>
          </a:p>
        </p:txBody>
      </p:sp>
      <p:sp>
        <p:nvSpPr>
          <p:cNvPr id="100154" name="Title"/>
          <p:cNvSpPr txBox="1"/>
          <p:nvPr/>
        </p:nvSpPr>
        <p:spPr>
          <a:xfrm xmlns:a="http://schemas.openxmlformats.org/drawingml/2006/main">
            <a:off x="720000" y="612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Portfolio Live: Hero &amp; About Sections</a:t>
            </a:r>
          </a:p>
        </p:txBody>
      </p:sp>
      <p:sp>
        <p:nvSpPr>
          <p:cNvPr id="100155" name="Divider"/>
          <p:cNvSpPr txBox="1"/>
          <p:nvPr/>
        </p:nvSpPr>
        <p:spPr>
          <a:xfrm xmlns:a="http://schemas.openxmlformats.org/drawingml/2006/main">
            <a:off x="720000" y="104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56" name="NavBar"/>
          <p:cNvSpPr txBox="1"/>
          <p:nvPr/>
        </p:nvSpPr>
        <p:spPr>
          <a:xfrm xmlns:a="http://schemas.openxmlformats.org/drawingml/2006/main">
            <a:off x="540000" y="1188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94A3B8"/>
                </a:solidFill>
              </a:rPr>
              <a:t>YR.          About    Expertise    Skills    Programs    Testimonials    Contact          [ Ask AI Assistant ]</a:t>
            </a:r>
          </a:p>
        </p:txBody>
      </p:sp>
      <p:sp>
        <p:nvSpPr>
          <p:cNvPr id="100157" name="HeroBg"/>
          <p:cNvSpPr txBox="1"/>
          <p:nvPr/>
        </p:nvSpPr>
        <p:spPr>
          <a:xfrm xmlns:a="http://schemas.openxmlformats.org/drawingml/2006/main">
            <a:off x="540000" y="1512000"/>
            <a:ext cx="108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100" b="0">
              <a:solidFill>
                <a:srgbClr val="38BDF8"/>
              </a:solidFill>
            </a:endParaRPr>
          </a:p>
        </p:txBody>
      </p:sp>
      <p:sp>
        <p:nvSpPr>
          <p:cNvPr id="100158" name="HeroBadge"/>
          <p:cNvSpPr txBox="1"/>
          <p:nvPr/>
        </p:nvSpPr>
        <p:spPr>
          <a:xfrm xmlns:a="http://schemas.openxmlformats.org/drawingml/2006/main">
            <a:off x="1800000" y="1620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8BDF8"/>
                </a:solidFill>
              </a:rPr>
              <a:t>TECHNICAL TRAINER &amp; SUBJECT MATTER EXPERT</a:t>
            </a:r>
          </a:p>
        </p:txBody>
      </p:sp>
      <p:sp>
        <p:nvSpPr>
          <p:cNvPr id="100159" name="HeroName"/>
          <p:cNvSpPr txBox="1"/>
          <p:nvPr/>
        </p:nvSpPr>
        <p:spPr>
          <a:xfrm xmlns:a="http://schemas.openxmlformats.org/drawingml/2006/main">
            <a:off x="1080000" y="1908000"/>
            <a:ext cx="93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38BDF8"/>
                </a:solidFill>
              </a:rPr>
              <a:t>Yogesh Raje</a:t>
            </a:r>
          </a:p>
        </p:txBody>
      </p:sp>
      <p:sp>
        <p:nvSpPr>
          <p:cNvPr id="100160" name="HeroSub"/>
          <p:cNvSpPr txBox="1"/>
          <p:nvPr/>
        </p:nvSpPr>
        <p:spPr>
          <a:xfrm xmlns:a="http://schemas.openxmlformats.org/drawingml/2006/main">
            <a:off x="1080000" y="2664000"/>
            <a:ext cx="93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>Agentic AI   ·   Machine Learning   ·   Quantum Computing</a:t>
            </a:r>
          </a:p>
        </p:txBody>
      </p:sp>
      <p:sp>
        <p:nvSpPr>
          <p:cNvPr id="100161" name="HeroCTAs"/>
          <p:cNvSpPr txBox="1"/>
          <p:nvPr/>
        </p:nvSpPr>
        <p:spPr>
          <a:xfrm xmlns:a="http://schemas.openxmlformats.org/drawingml/2006/main">
            <a:off x="1800000" y="3060000"/>
            <a:ext cx="75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E2E8F0"/>
                </a:solidFill>
              </a:rPr>
              <a:t>[ Explore Programs ]     [ Book a Session ]     [ Ask IBM Granite AI ]</a:t>
            </a:r>
          </a:p>
        </p:txBody>
      </p:sp>
      <p:sp>
        <p:nvSpPr>
          <p:cNvPr id="100162" name="FABLabel"/>
          <p:cNvSpPr txBox="1"/>
          <p:nvPr/>
        </p:nvSpPr>
        <p:spPr>
          <a:xfrm xmlns:a="http://schemas.openxmlformats.org/drawingml/2006/main">
            <a:off x="10800000" y="3420000"/>
            <a:ext cx="10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🤖</a:t>
            </a:r>
          </a:p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AI FAB</a:t>
            </a:r>
          </a:p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(floating)</a:t>
            </a:r>
          </a:p>
        </p:txBody>
      </p:sp>
      <p:sp>
        <p:nvSpPr>
          <p:cNvPr id="100163" name="AboutTitle"/>
          <p:cNvSpPr txBox="1"/>
          <p:nvPr/>
        </p:nvSpPr>
        <p:spPr>
          <a:xfrm xmlns:a="http://schemas.openxmlformats.org/drawingml/2006/main">
            <a:off x="540000" y="432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ABOUT SECTION  —  Orbital rings animation + 4 stat cards</a:t>
            </a:r>
          </a:p>
        </p:txBody>
      </p:sp>
      <p:sp>
        <p:nvSpPr>
          <p:cNvPr id="100164" name="AboutOrbit"/>
          <p:cNvSpPr txBox="1"/>
          <p:nvPr/>
        </p:nvSpPr>
        <p:spPr>
          <a:xfrm xmlns:a="http://schemas.openxmlformats.org/drawingml/2006/main">
            <a:off x="540000" y="4572000"/>
            <a:ext cx="198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8BDF8"/>
                </a:solidFill>
              </a:rPr>
              <a:t>[  Orbital</a:t>
            </a:r>
          </a:p>
          <a:p xmlns:a="http://schemas.openxmlformats.org/drawingml/2006/main">
            <a:r>
              <a:rPr lang="en-US" sz="1200" b="0">
                <a:solidFill>
                  <a:srgbClr val="38BDF8"/>
                </a:solidFill>
              </a:rPr>
              <a:t>   Rings</a:t>
            </a:r>
          </a:p>
          <a:p xmlns:a="http://schemas.openxmlformats.org/drawingml/2006/main">
            <a:r>
              <a:rPr lang="en-US" sz="1200" b="0">
                <a:solidFill>
                  <a:srgbClr val="38BDF8"/>
                </a:solidFill>
              </a:rPr>
              <a:t>  Animation</a:t>
            </a:r>
          </a:p>
          <a:p xmlns:a="http://schemas.openxmlformats.org/drawingml/2006/main">
            <a:r>
              <a:rPr lang="en-US" sz="1200" b="0">
                <a:solidFill>
                  <a:srgbClr val="38BDF8"/>
                </a:solidFill>
              </a:rPr>
              <a:t>    + YR  ]</a:t>
            </a:r>
          </a:p>
        </p:txBody>
      </p:sp>
      <p:sp>
        <p:nvSpPr>
          <p:cNvPr id="100165" name="AboutText"/>
          <p:cNvSpPr txBox="1"/>
          <p:nvPr/>
        </p:nvSpPr>
        <p:spPr>
          <a:xfrm xmlns:a="http://schemas.openxmlformats.org/drawingml/2006/main">
            <a:off x="2700000" y="4572000"/>
            <a:ext cx="432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4A3B8"/>
                </a:solidFill>
              </a:rPr>
              <a:t>Yogesh Raje is a passionate Technical Trainer specialising in Agentic AI, Machine Learning, and Quantum Computing. He designs transformative programs blending conceptual depth with practical labs.</a:t>
            </a:r>
          </a:p>
        </p:txBody>
      </p:sp>
      <p:sp>
        <p:nvSpPr>
          <p:cNvPr id="100166" name="Stat1"/>
          <p:cNvSpPr txBox="1"/>
          <p:nvPr/>
        </p:nvSpPr>
        <p:spPr>
          <a:xfrm xmlns:a="http://schemas.openxmlformats.org/drawingml/2006/main">
            <a:off x="7380000" y="4572000"/>
            <a:ext cx="10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500+</a:t>
            </a:r>
          </a:p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Trained</a:t>
            </a:r>
          </a:p>
        </p:txBody>
      </p:sp>
      <p:sp>
        <p:nvSpPr>
          <p:cNvPr id="100167" name="Stat2"/>
          <p:cNvSpPr txBox="1"/>
          <p:nvPr/>
        </p:nvSpPr>
        <p:spPr>
          <a:xfrm xmlns:a="http://schemas.openxmlformats.org/drawingml/2006/main">
            <a:off x="8640000" y="4572000"/>
            <a:ext cx="10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50+</a:t>
            </a:r>
          </a:p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Workshops</a:t>
            </a:r>
          </a:p>
        </p:txBody>
      </p:sp>
      <p:sp>
        <p:nvSpPr>
          <p:cNvPr id="100168" name="Stat3"/>
          <p:cNvSpPr txBox="1"/>
          <p:nvPr/>
        </p:nvSpPr>
        <p:spPr>
          <a:xfrm xmlns:a="http://schemas.openxmlformats.org/drawingml/2006/main">
            <a:off x="7380000" y="5400000"/>
            <a:ext cx="10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3</a:t>
            </a:r>
          </a:p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Domains</a:t>
            </a:r>
          </a:p>
        </p:txBody>
      </p:sp>
      <p:sp>
        <p:nvSpPr>
          <p:cNvPr id="100169" name="Stat4"/>
          <p:cNvSpPr txBox="1"/>
          <p:nvPr/>
        </p:nvSpPr>
        <p:spPr>
          <a:xfrm xmlns:a="http://schemas.openxmlformats.org/drawingml/2006/main">
            <a:off x="8640000" y="5400000"/>
            <a:ext cx="10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98%</a:t>
            </a:r>
          </a:p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Satisfied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7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171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13</a:t>
            </a:r>
          </a:p>
        </p:txBody>
      </p:sp>
      <p:sp>
        <p:nvSpPr>
          <p:cNvPr id="100172" name="Label"/>
          <p:cNvSpPr txBox="1"/>
          <p:nvPr/>
        </p:nvSpPr>
        <p:spPr>
          <a:xfrm xmlns:a="http://schemas.openxmlformats.org/drawingml/2006/main">
            <a:off x="720000" y="36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AI CHAT WIDGET DEMO  —  IBM GRANITE  ·  ibm/granite-3-3-8b-instruct</a:t>
            </a:r>
          </a:p>
        </p:txBody>
      </p:sp>
      <p:sp>
        <p:nvSpPr>
          <p:cNvPr id="100173" name="Title"/>
          <p:cNvSpPr txBox="1"/>
          <p:nvPr/>
        </p:nvSpPr>
        <p:spPr>
          <a:xfrm xmlns:a="http://schemas.openxmlformats.org/drawingml/2006/main">
            <a:off x="720000" y="612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IBM Granite AI Chat Widget — Live Demo</a:t>
            </a:r>
          </a:p>
        </p:txBody>
      </p:sp>
      <p:sp>
        <p:nvSpPr>
          <p:cNvPr id="100174" name="Divider"/>
          <p:cNvSpPr txBox="1"/>
          <p:nvPr/>
        </p:nvSpPr>
        <p:spPr>
          <a:xfrm xmlns:a="http://schemas.openxmlformats.org/drawingml/2006/main">
            <a:off x="720000" y="104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175" name="ChatPanelBg"/>
          <p:cNvSpPr txBox="1"/>
          <p:nvPr/>
        </p:nvSpPr>
        <p:spPr>
          <a:xfrm xmlns:a="http://schemas.openxmlformats.org/drawingml/2006/main">
            <a:off x="540000" y="1152000"/>
            <a:ext cx="5400000" cy="54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200" b="0">
              <a:solidFill>
                <a:srgbClr val="38BDF8"/>
              </a:solidFill>
            </a:endParaRPr>
          </a:p>
        </p:txBody>
      </p:sp>
      <p:sp>
        <p:nvSpPr>
          <p:cNvPr id="100176" name="ChatHeader"/>
          <p:cNvSpPr txBox="1"/>
          <p:nvPr/>
        </p:nvSpPr>
        <p:spPr>
          <a:xfrm xmlns:a="http://schemas.openxmlformats.org/drawingml/2006/main">
            <a:off x="648000" y="1224000"/>
            <a:ext cx="518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Yogesh Raje's AI Assistant</a:t>
            </a:r>
          </a:p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[ IBM Granite · watsonx.ai ]          [X]</a:t>
            </a:r>
          </a:p>
        </p:txBody>
      </p:sp>
      <p:sp>
        <p:nvSpPr>
          <p:cNvPr id="100177" name="BotMsg1"/>
          <p:cNvSpPr txBox="1"/>
          <p:nvPr/>
        </p:nvSpPr>
        <p:spPr>
          <a:xfrm xmlns:a="http://schemas.openxmlformats.org/drawingml/2006/main">
            <a:off x="720000" y="1800000"/>
            <a:ext cx="46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E2E8F0"/>
                </a:solidFill>
              </a:rPr>
              <a:t>[Y]  Hi! I'm Yogesh Raje's AI assistant, powered by IBM Granite. I can help with training programs, Agentic AI, ML, and Quantum Computing. How can I help?</a:t>
            </a:r>
          </a:p>
        </p:txBody>
      </p:sp>
      <p:sp>
        <p:nvSpPr>
          <p:cNvPr id="100178" name="Chips"/>
          <p:cNvSpPr txBox="1"/>
          <p:nvPr/>
        </p:nvSpPr>
        <p:spPr>
          <a:xfrm xmlns:a="http://schemas.openxmlformats.org/drawingml/2006/main">
            <a:off x="720000" y="2628000"/>
            <a:ext cx="46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38BDF8"/>
                </a:solidFill>
              </a:rPr>
              <a:t>[ What is Agentic AI? ]   [ Explain a qubit ]   [ Training programs ]   [ Book a session ]</a:t>
            </a:r>
          </a:p>
        </p:txBody>
      </p:sp>
      <p:sp>
        <p:nvSpPr>
          <p:cNvPr id="100179" name="UserMsg"/>
          <p:cNvSpPr txBox="1"/>
          <p:nvPr/>
        </p:nvSpPr>
        <p:spPr>
          <a:xfrm xmlns:a="http://schemas.openxmlformats.org/drawingml/2006/main">
            <a:off x="1080000" y="3060000"/>
            <a:ext cx="432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E2E8F0"/>
                </a:solidFill>
              </a:rPr>
              <a:t>[User]  What Agentic AI training programs does Yogesh offer?</a:t>
            </a:r>
          </a:p>
        </p:txBody>
      </p:sp>
      <p:sp>
        <p:nvSpPr>
          <p:cNvPr id="100180" name="TypingDots"/>
          <p:cNvSpPr txBox="1"/>
          <p:nvPr/>
        </p:nvSpPr>
        <p:spPr>
          <a:xfrm xmlns:a="http://schemas.openxmlformats.org/drawingml/2006/main">
            <a:off x="720000" y="3600000"/>
            <a:ext cx="28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38BDF8"/>
                </a:solidFill>
              </a:rPr>
              <a:t>[Y]  ...  (typing indicator)</a:t>
            </a:r>
          </a:p>
        </p:txBody>
      </p:sp>
      <p:sp>
        <p:nvSpPr>
          <p:cNvPr id="100181" name="BotMsg2"/>
          <p:cNvSpPr txBox="1"/>
          <p:nvPr/>
        </p:nvSpPr>
        <p:spPr>
          <a:xfrm xmlns:a="http://schemas.openxmlformats.org/drawingml/2006/main">
            <a:off x="720000" y="3888000"/>
            <a:ext cx="46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E2E8F0"/>
                </a:solidFill>
              </a:rPr>
              <a:t>[Y]  Yogesh Raje offers the Agentic AI Masterclass (48h, Advanced) — covering multi-agent systems, LLM agents, IBM Granite, tool-calling, and enterprise AI. Also: LLMs &amp; Prompt Engineering (24h). Contact: yogesh.raje@aigenius.in</a:t>
            </a:r>
          </a:p>
        </p:txBody>
      </p:sp>
      <p:sp>
        <p:nvSpPr>
          <p:cNvPr id="100182" name="ChatInput"/>
          <p:cNvSpPr txBox="1"/>
          <p:nvPr/>
        </p:nvSpPr>
        <p:spPr>
          <a:xfrm xmlns:a="http://schemas.openxmlformats.org/drawingml/2006/main">
            <a:off x="720000" y="4968000"/>
            <a:ext cx="46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94A3B8"/>
                </a:solidFill>
              </a:rPr>
              <a:t>[ Ask anything about AI, ML, Quantum Computing...            ] [&gt;]</a:t>
            </a:r>
          </a:p>
        </p:txBody>
      </p:sp>
      <p:sp>
        <p:nvSpPr>
          <p:cNvPr id="100183" name="FooterNote"/>
          <p:cNvSpPr txBox="1"/>
          <p:nvPr/>
        </p:nvSpPr>
        <p:spPr>
          <a:xfrm xmlns:a="http://schemas.openxmlformats.org/drawingml/2006/main">
            <a:off x="720000" y="5328000"/>
            <a:ext cx="46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94A3B8"/>
                </a:solidFill>
              </a:rPr>
              <a:t>Responses generated by IBM Granite · ibm/granite-3-3-8b-instruct</a:t>
            </a:r>
          </a:p>
        </p:txBody>
      </p:sp>
      <p:sp>
        <p:nvSpPr>
          <p:cNvPr id="100184" name="FeaturesHdr"/>
          <p:cNvSpPr txBox="1"/>
          <p:nvPr/>
        </p:nvSpPr>
        <p:spPr>
          <a:xfrm xmlns:a="http://schemas.openxmlformats.org/drawingml/2006/main">
            <a:off x="6480000" y="1152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AI CHAT FEATURES</a:t>
            </a:r>
          </a:p>
        </p:txBody>
      </p:sp>
      <p:sp>
        <p:nvSpPr>
          <p:cNvPr id="100185" name="Features"/>
          <p:cNvSpPr txBox="1"/>
          <p:nvPr/>
        </p:nvSpPr>
        <p:spPr>
          <a:xfrm xmlns:a="http://schemas.openxmlformats.org/drawingml/2006/main">
            <a:off x="6480000" y="1440000"/>
            <a:ext cx="504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🤖  Floating FAB button — accessible from all sections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🧠  IBM Granite 3.3 8B Instruct model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💬  Multi-turn conversation memory (last 12 turns)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⚡  Suggested prompt chips — quick-start questions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⌨️  Typing indicator (3-dot bounce animation)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📝  Markdown rendering — bold, italic, bullet lists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🔄  Intelligent fallback — 6 intent classifiers offline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🔒  API key server-side ONLY — never in browser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🌐  IAM token cached 3400s — auto-refresh</a:t>
            </a:r>
          </a:p>
        </p:txBody>
      </p:sp>
      <p:sp>
        <p:nvSpPr>
          <p:cNvPr id="100186" name="FallbackHdr"/>
          <p:cNvSpPr txBox="1"/>
          <p:nvPr/>
        </p:nvSpPr>
        <p:spPr>
          <a:xfrm xmlns:a="http://schemas.openxmlformats.org/drawingml/2006/main">
            <a:off x="6480000" y="5508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FALLBACK INTENTS (offline mode)</a:t>
            </a:r>
          </a:p>
        </p:txBody>
      </p:sp>
      <p:sp>
        <p:nvSpPr>
          <p:cNvPr id="100187" name="Fallback"/>
          <p:cNvSpPr txBox="1"/>
          <p:nvPr/>
        </p:nvSpPr>
        <p:spPr>
          <a:xfrm xmlns:a="http://schemas.openxmlformats.org/drawingml/2006/main">
            <a:off x="6480000" y="576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4A3B8"/>
                </a:solidFill>
              </a:rPr>
              <a:t>Agentic AI  ·  Quantum / Qubits  ·  Machine Learning  ·  Booking  ·  About Yogesh  ·  IBM Granite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8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89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14</a:t>
            </a:r>
          </a:p>
        </p:txBody>
      </p:sp>
      <p:sp>
        <p:nvSpPr>
          <p:cNvPr id="100190" name="Label"/>
          <p:cNvSpPr txBox="1"/>
          <p:nvPr/>
        </p:nvSpPr>
        <p:spPr>
          <a:xfrm xmlns:a="http://schemas.openxmlformats.org/drawingml/2006/main">
            <a:off x="72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TECHNOLOGY STACK</a:t>
            </a:r>
          </a:p>
        </p:txBody>
      </p:sp>
      <p:sp>
        <p:nvSpPr>
          <p:cNvPr id="100191" name="Title"/>
          <p:cNvSpPr txBox="1"/>
          <p:nvPr/>
        </p:nvSpPr>
        <p:spPr>
          <a:xfrm xmlns:a="http://schemas.openxmlformats.org/drawingml/2006/main">
            <a:off x="720000" y="612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Technology Stack &amp; File Structure</a:t>
            </a:r>
          </a:p>
        </p:txBody>
      </p:sp>
      <p:sp>
        <p:nvSpPr>
          <p:cNvPr id="100192" name="Divider"/>
          <p:cNvSpPr txBox="1"/>
          <p:nvPr/>
        </p:nvSpPr>
        <p:spPr>
          <a:xfrm xmlns:a="http://schemas.openxmlformats.org/drawingml/2006/main">
            <a:off x="720000" y="104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93" name="StackHdr"/>
          <p:cNvSpPr txBox="1"/>
          <p:nvPr/>
        </p:nvSpPr>
        <p:spPr>
          <a:xfrm xmlns:a="http://schemas.openxmlformats.org/drawingml/2006/main">
            <a:off x="720000" y="1188000"/>
            <a:ext cx="64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TECHNOLOGY STACK</a:t>
            </a:r>
          </a:p>
        </p:txBody>
      </p:sp>
      <p:sp>
        <p:nvSpPr>
          <p:cNvPr id="100194" name="T1"/>
          <p:cNvSpPr txBox="1"/>
          <p:nvPr/>
        </p:nvSpPr>
        <p:spPr>
          <a:xfrm xmlns:a="http://schemas.openxmlformats.org/drawingml/2006/main">
            <a:off x="720000" y="14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Runtime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Node.js v22 LTS</a:t>
            </a:r>
          </a:p>
        </p:txBody>
      </p:sp>
      <p:sp>
        <p:nvSpPr>
          <p:cNvPr id="100195" name="T2"/>
          <p:cNvSpPr txBox="1"/>
          <p:nvPr/>
        </p:nvSpPr>
        <p:spPr>
          <a:xfrm xmlns:a="http://schemas.openxmlformats.org/drawingml/2006/main">
            <a:off x="2880000" y="14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8BDF8"/>
                </a:solidFill>
              </a:rPr>
              <a:t>HTTP Server</a:t>
            </a:r>
          </a:p>
          <a:p xmlns:a="http://schemas.openxmlformats.org/drawingml/2006/main">
            <a:r>
              <a:rPr lang="en-US" sz="1300" b="0">
                <a:solidFill>
                  <a:srgbClr val="38BDF8"/>
                </a:solidFill>
              </a:rPr>
              <a:t>node:http (built-in)</a:t>
            </a:r>
          </a:p>
        </p:txBody>
      </p:sp>
      <p:sp>
        <p:nvSpPr>
          <p:cNvPr id="100196" name="T3"/>
          <p:cNvSpPr txBox="1"/>
          <p:nvPr/>
        </p:nvSpPr>
        <p:spPr>
          <a:xfrm xmlns:a="http://schemas.openxmlformats.org/drawingml/2006/main">
            <a:off x="5040000" y="14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8BDF8"/>
                </a:solidFill>
              </a:rPr>
              <a:t>HTTPS Client</a:t>
            </a:r>
          </a:p>
          <a:p xmlns:a="http://schemas.openxmlformats.org/drawingml/2006/main">
            <a:r>
              <a:rPr lang="en-US" sz="1300" b="0">
                <a:solidFill>
                  <a:srgbClr val="38BDF8"/>
                </a:solidFill>
              </a:rPr>
              <a:t>node:https (built-in)</a:t>
            </a:r>
          </a:p>
        </p:txBody>
      </p:sp>
      <p:sp>
        <p:nvSpPr>
          <p:cNvPr id="100197" name="T4"/>
          <p:cNvSpPr txBox="1"/>
          <p:nvPr/>
        </p:nvSpPr>
        <p:spPr>
          <a:xfrm xmlns:a="http://schemas.openxmlformats.org/drawingml/2006/main">
            <a:off x="720000" y="23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Frontend</a:t>
            </a:r>
          </a:p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HTML5+CSS3+Vanilla JS</a:t>
            </a:r>
          </a:p>
        </p:txBody>
      </p:sp>
      <p:sp>
        <p:nvSpPr>
          <p:cNvPr id="100198" name="T5"/>
          <p:cNvSpPr txBox="1"/>
          <p:nvPr/>
        </p:nvSpPr>
        <p:spPr>
          <a:xfrm xmlns:a="http://schemas.openxmlformats.org/drawingml/2006/main">
            <a:off x="2880000" y="23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AI Model</a:t>
            </a:r>
          </a:p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IBM Granite 3.3 8B</a:t>
            </a:r>
          </a:p>
        </p:txBody>
      </p:sp>
      <p:sp>
        <p:nvSpPr>
          <p:cNvPr id="100199" name="T6"/>
          <p:cNvSpPr txBox="1"/>
          <p:nvPr/>
        </p:nvSpPr>
        <p:spPr>
          <a:xfrm xmlns:a="http://schemas.openxmlformats.org/drawingml/2006/main">
            <a:off x="5040000" y="23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AI Platform</a:t>
            </a:r>
          </a:p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IBM watsonx.ai</a:t>
            </a:r>
          </a:p>
        </p:txBody>
      </p:sp>
      <p:sp>
        <p:nvSpPr>
          <p:cNvPr id="100200" name="T7"/>
          <p:cNvSpPr txBox="1"/>
          <p:nvPr/>
        </p:nvSpPr>
        <p:spPr>
          <a:xfrm xmlns:a="http://schemas.openxmlformats.org/drawingml/2006/main">
            <a:off x="720000" y="32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Auth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IBM IAM OAuth 2.0</a:t>
            </a:r>
          </a:p>
        </p:txBody>
      </p:sp>
      <p:sp>
        <p:nvSpPr>
          <p:cNvPr id="100201" name="T8"/>
          <p:cNvSpPr txBox="1"/>
          <p:nvPr/>
        </p:nvSpPr>
        <p:spPr>
          <a:xfrm xmlns:a="http://schemas.openxmlformats.org/drawingml/2006/main">
            <a:off x="2880000" y="32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Config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.env file + built-in parser</a:t>
            </a:r>
          </a:p>
        </p:txBody>
      </p:sp>
      <p:sp>
        <p:nvSpPr>
          <p:cNvPr id="100202" name="T9"/>
          <p:cNvSpPr txBox="1"/>
          <p:nvPr/>
        </p:nvSpPr>
        <p:spPr>
          <a:xfrm xmlns:a="http://schemas.openxmlformats.org/drawingml/2006/main">
            <a:off x="5040000" y="32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4D399"/>
                </a:solidFill>
              </a:rPr>
              <a:t>npm packages</a:t>
            </a:r>
          </a:p>
          <a:p xmlns:a="http://schemas.openxmlformats.org/drawingml/2006/main">
            <a:r>
              <a:rPr lang="en-US" sz="1800" b="1">
                <a:solidFill>
                  <a:srgbClr val="34D399"/>
                </a:solidFill>
              </a:rPr>
              <a:t>ZERO</a:t>
            </a:r>
          </a:p>
        </p:txBody>
      </p:sp>
      <p:sp>
        <p:nvSpPr>
          <p:cNvPr id="100203" name="FilesHdr"/>
          <p:cNvSpPr txBox="1"/>
          <p:nvPr/>
        </p:nvSpPr>
        <p:spPr>
          <a:xfrm xmlns:a="http://schemas.openxmlformats.org/drawingml/2006/main">
            <a:off x="7560000" y="1188000"/>
            <a:ext cx="39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FILE STRUCTURE</a:t>
            </a:r>
          </a:p>
        </p:txBody>
      </p:sp>
      <p:sp>
        <p:nvSpPr>
          <p:cNvPr id="100204" name="Files"/>
          <p:cNvSpPr txBox="1"/>
          <p:nvPr/>
        </p:nvSpPr>
        <p:spPr>
          <a:xfrm xmlns:a="http://schemas.openxmlformats.org/drawingml/2006/main">
            <a:off x="7560000" y="1440000"/>
            <a:ext cx="414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Portfolio_Yogesh_IBMBob/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index.html          (1,160 lines — full SPA)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server.js            (335 lines — API + static)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package.json        (zero deps)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package-lock.json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install_and_run.bat  (Windows launcher)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SDLC_PLAN.md        (620 lines — 7 phases)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README.md           (360 lines — GitHub docs)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.gitignore           (secrets protection)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requirements.txt     (all SW requirements)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└── .env                (credentials — gitignored)</a:t>
            </a:r>
          </a:p>
        </p:txBody>
      </p:sp>
      <p:sp>
        <p:nvSpPr>
          <p:cNvPr id="100205" name="GH"/>
          <p:cNvSpPr txBox="1"/>
          <p:nvPr/>
        </p:nvSpPr>
        <p:spPr>
          <a:xfrm xmlns:a="http://schemas.openxmlformats.org/drawingml/2006/main">
            <a:off x="720000" y="414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8BDF8"/>
                </a:solidFill>
              </a:rPr>
              <a:t>GitHub: github.com/YogeshRaje/Portfolio_Yogesh_IBMBob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206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207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15</a:t>
            </a:r>
          </a:p>
        </p:txBody>
      </p:sp>
      <p:sp>
        <p:nvSpPr>
          <p:cNvPr id="100208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PHASE 7  ·  DEPLOYMENT &amp; OPERATIONS  ✅</a:t>
            </a:r>
          </a:p>
        </p:txBody>
      </p:sp>
      <p:sp>
        <p:nvSpPr>
          <p:cNvPr id="100209" name="Title"/>
          <p:cNvSpPr txBox="1"/>
          <p:nvPr/>
        </p:nvSpPr>
        <p:spPr>
          <a:xfrm xmlns:a="http://schemas.openxmlformats.org/drawingml/2006/main">
            <a:off x="720000" y="612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Deployment &amp; Server Startup</a:t>
            </a:r>
          </a:p>
        </p:txBody>
      </p:sp>
      <p:sp>
        <p:nvSpPr>
          <p:cNvPr id="100210" name="Divider"/>
          <p:cNvSpPr txBox="1"/>
          <p:nvPr/>
        </p:nvSpPr>
        <p:spPr>
          <a:xfrm xmlns:a="http://schemas.openxmlformats.org/drawingml/2006/main">
            <a:off x="720000" y="104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211" name="StartupHdr"/>
          <p:cNvSpPr txBox="1"/>
          <p:nvPr/>
        </p:nvSpPr>
        <p:spPr>
          <a:xfrm xmlns:a="http://schemas.openxmlformats.org/drawingml/2006/main">
            <a:off x="720000" y="118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SERVER STARTUP OUTPUT  (node server.js)</a:t>
            </a:r>
          </a:p>
        </p:txBody>
      </p:sp>
      <p:sp>
        <p:nvSpPr>
          <p:cNvPr id="100212" name="Startup"/>
          <p:cNvSpPr txBox="1"/>
          <p:nvPr/>
        </p:nvSpPr>
        <p:spPr>
          <a:xfrm xmlns:a="http://schemas.openxmlformats.org/drawingml/2006/main">
            <a:off x="720000" y="1440000"/>
            <a:ext cx="684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[.env] Loaded environment from .env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╔══════════════════════════════════════════════════════╗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   Yogesh Portfolio Server — Running!    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╠══════════════════════════════════════════════════════╣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Local:   http://localhost:3000           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Model:   ibm/granite-3-3-8b-instruct     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Region:  us-south.ml.cloud.ibm.com       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AI API:  ✅ IBM Granite fully configured!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╠══════════════════════════════════════════════════════╣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Press Ctrl+C to stop the server          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╚══════════════════════════════════════════════════════╝</a:t>
            </a:r>
          </a:p>
        </p:txBody>
      </p:sp>
      <p:sp>
        <p:nvSpPr>
          <p:cNvPr id="100213" name="DeployHdr"/>
          <p:cNvSpPr txBox="1"/>
          <p:nvPr/>
        </p:nvSpPr>
        <p:spPr>
          <a:xfrm xmlns:a="http://schemas.openxmlformats.org/drawingml/2006/main">
            <a:off x="7920000" y="1188000"/>
            <a:ext cx="37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DEPLOYMENT OPTIONS</a:t>
            </a:r>
          </a:p>
        </p:txBody>
      </p:sp>
      <p:sp>
        <p:nvSpPr>
          <p:cNvPr id="100214" name="D1"/>
          <p:cNvSpPr txBox="1"/>
          <p:nvPr/>
        </p:nvSpPr>
        <p:spPr>
          <a:xfrm xmlns:a="http://schemas.openxmlformats.org/drawingml/2006/main">
            <a:off x="7920000" y="1440000"/>
            <a:ext cx="172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Local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node server.js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localhost:3000</a:t>
            </a:r>
          </a:p>
        </p:txBody>
      </p:sp>
      <p:sp>
        <p:nvSpPr>
          <p:cNvPr id="100215" name="D2"/>
          <p:cNvSpPr txBox="1"/>
          <p:nvPr/>
        </p:nvSpPr>
        <p:spPr>
          <a:xfrm xmlns:a="http://schemas.openxmlformats.org/drawingml/2006/main">
            <a:off x="9900000" y="1440000"/>
            <a:ext cx="16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Windows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install_and_run.bat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One-click launch</a:t>
            </a:r>
          </a:p>
        </p:txBody>
      </p:sp>
      <p:sp>
        <p:nvSpPr>
          <p:cNvPr id="100216" name="D3"/>
          <p:cNvSpPr txBox="1"/>
          <p:nvPr/>
        </p:nvSpPr>
        <p:spPr>
          <a:xfrm xmlns:a="http://schemas.openxmlformats.org/drawingml/2006/main">
            <a:off x="7920000" y="2700000"/>
            <a:ext cx="172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Docker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FROM node:18-alpine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docker run -p 3000:3000</a:t>
            </a:r>
          </a:p>
        </p:txBody>
      </p:sp>
      <p:sp>
        <p:nvSpPr>
          <p:cNvPr id="100217" name="D4"/>
          <p:cNvSpPr txBox="1"/>
          <p:nvPr/>
        </p:nvSpPr>
        <p:spPr>
          <a:xfrm xmlns:a="http://schemas.openxmlformats.org/drawingml/2006/main">
            <a:off x="9900000" y="2700000"/>
            <a:ext cx="16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IBM Code Engine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ibmcloud ce application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create</a:t>
            </a:r>
          </a:p>
        </p:txBody>
      </p:sp>
      <p:sp>
        <p:nvSpPr>
          <p:cNvPr id="100218" name="D5"/>
          <p:cNvSpPr txBox="1"/>
          <p:nvPr/>
        </p:nvSpPr>
        <p:spPr>
          <a:xfrm xmlns:a="http://schemas.openxmlformats.org/drawingml/2006/main">
            <a:off x="7920000" y="3960000"/>
            <a:ext cx="378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4A3B8"/>
                </a:solidFill>
              </a:rPr>
              <a:t>Vercel / Railway / Render: Push repo + set IBM_API_KEY &amp; IBM_PROJECT_ID env vars</a:t>
            </a:r>
          </a:p>
        </p:txBody>
      </p:sp>
      <p:sp>
        <p:nvSpPr>
          <p:cNvPr id="100219" name="TestResultsHdr"/>
          <p:cNvSpPr txBox="1"/>
          <p:nvPr/>
        </p:nvSpPr>
        <p:spPr>
          <a:xfrm xmlns:a="http://schemas.openxmlformats.org/drawingml/2006/main">
            <a:off x="720000" y="4500000"/>
            <a:ext cx="68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SERVER HTTP TEST RESULTS</a:t>
            </a:r>
          </a:p>
        </p:txBody>
      </p:sp>
      <p:sp>
        <p:nvSpPr>
          <p:cNvPr id="100220" name="TestResults"/>
          <p:cNvSpPr txBox="1"/>
          <p:nvPr/>
        </p:nvSpPr>
        <p:spPr>
          <a:xfrm xmlns:a="http://schemas.openxmlformats.org/drawingml/2006/main">
            <a:off x="720000" y="4752000"/>
            <a:ext cx="684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GET /               HTTP 200  (52,912 bytes)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Yogesh Raje         in page content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IBM Granite         in page content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Agentic AI          in page content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Quantum Computing   in page content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AI Chat Widget      present (ai-fab)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Training Programs   in page content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watsonx.ai          in page content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221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222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16</a:t>
            </a:r>
          </a:p>
        </p:txBody>
      </p:sp>
      <p:sp>
        <p:nvSpPr>
          <p:cNvPr id="100223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RESULTS &amp; SUCCESS METRICS</a:t>
            </a:r>
          </a:p>
        </p:txBody>
      </p:sp>
      <p:sp>
        <p:nvSpPr>
          <p:cNvPr id="100224" name="Title"/>
          <p:cNvSpPr txBox="1"/>
          <p:nvPr/>
        </p:nvSpPr>
        <p:spPr>
          <a:xfrm xmlns:a="http://schemas.openxmlformats.org/drawingml/2006/main">
            <a:off x="720000" y="612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Success Metrics &amp; Risk Register</a:t>
            </a:r>
          </a:p>
        </p:txBody>
      </p:sp>
      <p:sp>
        <p:nvSpPr>
          <p:cNvPr id="100225" name="Divider"/>
          <p:cNvSpPr txBox="1"/>
          <p:nvPr/>
        </p:nvSpPr>
        <p:spPr>
          <a:xfrm xmlns:a="http://schemas.openxmlformats.org/drawingml/2006/main">
            <a:off x="720000" y="104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226" name="MetricsHdr"/>
          <p:cNvSpPr txBox="1"/>
          <p:nvPr/>
        </p:nvSpPr>
        <p:spPr>
          <a:xfrm xmlns:a="http://schemas.openxmlformats.org/drawingml/2006/main">
            <a:off x="720000" y="1188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SUCCESS METRICS</a:t>
            </a:r>
          </a:p>
        </p:txBody>
      </p:sp>
      <p:sp>
        <p:nvSpPr>
          <p:cNvPr id="100227" name="Metrics"/>
          <p:cNvSpPr txBox="1"/>
          <p:nvPr/>
        </p:nvSpPr>
        <p:spPr>
          <a:xfrm xmlns:a="http://schemas.openxmlformats.org/drawingml/2006/main">
            <a:off x="720000" y="1476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Portfolio:        8/8 sections  ✅   Mobile + Desktop  ✅   Page load &lt; 2s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Agentic AI:     6 intents covered  ✅   12-turn memory  ✅   API key secured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SDLC:            7/7 phases  ✅   16 FRs  ✅   12 test cases passed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GitHub:          Deployed  ✅   README  ✅   .gitignore  ✅   requirements.txt  ✅</a:t>
            </a:r>
          </a:p>
        </p:txBody>
      </p:sp>
      <p:sp>
        <p:nvSpPr>
          <p:cNvPr id="100228" name="RiskHdr"/>
          <p:cNvSpPr txBox="1"/>
          <p:nvPr/>
        </p:nvSpPr>
        <p:spPr>
          <a:xfrm xmlns:a="http://schemas.openxmlformats.org/drawingml/2006/main">
            <a:off x="6300000" y="1188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RISK REGISTER (KEY RISKS MITIGATED)</a:t>
            </a:r>
          </a:p>
        </p:txBody>
      </p:sp>
      <p:sp>
        <p:nvSpPr>
          <p:cNvPr id="100229" name="Risks"/>
          <p:cNvSpPr txBox="1"/>
          <p:nvPr/>
        </p:nvSpPr>
        <p:spPr>
          <a:xfrm xmlns:a="http://schemas.openxmlformats.org/drawingml/2006/main">
            <a:off x="6300000" y="1476000"/>
            <a:ext cx="54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R-01  No IBM API key         → Intelligent fallback mode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R-02  API rate limit          → IAM token caching (3400s)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R-03  Token expiry            → Auto-refresh at 3400s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R-04  Out-of-domain queries   → System prompt guardrails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R-05  Node.js version         → &gt;=18 documented + .bat checks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R-06  API key in Git          → .gitignore excludes .env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R-07  Port 3000 conflict      → PORT env var configurable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R-08  Browser compatibility   → Tested Chrome/Firefox/Edge  ✅</a:t>
            </a:r>
          </a:p>
        </p:txBody>
      </p:sp>
      <p:sp>
        <p:nvSpPr>
          <p:cNvPr id="100230" name="CompCertHdr"/>
          <p:cNvSpPr txBox="1"/>
          <p:nvPr/>
        </p:nvSpPr>
        <p:spPr>
          <a:xfrm xmlns:a="http://schemas.openxmlformats.org/drawingml/2006/main">
            <a:off x="720000" y="396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PROJECT COMPLETION CERTIFICATE</a:t>
            </a:r>
          </a:p>
        </p:txBody>
      </p:sp>
      <p:sp>
        <p:nvSpPr>
          <p:cNvPr id="100231" name="Certificate"/>
          <p:cNvSpPr txBox="1"/>
          <p:nvPr/>
        </p:nvSpPr>
        <p:spPr>
          <a:xfrm xmlns:a="http://schemas.openxmlformats.org/drawingml/2006/main">
            <a:off x="720000" y="4248000"/>
            <a:ext cx="104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Project: Yogesh Raje Personal Portfolio  ·  AI Model: ibm/granite-3-3-8b-instruct  ·  Platform: IBM watsonx.ai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All 7 phases of the Agentic AI SDLC completed  ·  GitHub: YogeshRaje/Portfolio_Yogesh_IBMBob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Stack: Node.js · HTML5 · CSS3 · Vanilla JS · IBM Granite  ·  Dependencies: ZERO npm packages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Built with IBM Bob  ·  Following Agentic AI SDLC best practices  ·  Status: ✅ PRODUCTION READY</a:t>
            </a:r>
          </a:p>
        </p:txBody>
      </p:sp>
    </p:spTree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232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233" name="BottomBar"/>
          <p:cNvSpPr txBox="1"/>
          <p:nvPr/>
        </p:nvSpPr>
        <p:spPr>
          <a:xfrm xmlns:a="http://schemas.openxmlformats.org/drawingml/2006/main">
            <a:off x="0" y="6768000"/>
            <a:ext cx="121932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234" name="Badge"/>
          <p:cNvSpPr txBox="1"/>
          <p:nvPr/>
        </p:nvSpPr>
        <p:spPr>
          <a:xfrm xmlns:a="http://schemas.openxmlformats.org/drawingml/2006/main">
            <a:off x="720000" y="900000"/>
            <a:ext cx="28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THANK YOU</a:t>
            </a:r>
          </a:p>
        </p:txBody>
      </p:sp>
      <p:sp>
        <p:nvSpPr>
          <p:cNvPr id="100235" name="Title"/>
          <p:cNvSpPr txBox="1"/>
          <p:nvPr/>
        </p:nvSpPr>
        <p:spPr>
          <a:xfrm xmlns:a="http://schemas.openxmlformats.org/drawingml/2006/main">
            <a:off x="720000" y="1260000"/>
            <a:ext cx="1044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</a:rPr>
              <a:t>Yogesh Raje</a:t>
            </a:r>
          </a:p>
          <a:p xmlns:a="http://schemas.openxmlformats.org/drawingml/2006/main">
            <a:r>
              <a:rPr lang="en-US" sz="4800" b="1">
                <a:solidFill>
                  <a:srgbClr val="FFFFFF"/>
                </a:solidFill>
              </a:rPr>
              <a:t>Personal Portfolio</a:t>
            </a:r>
          </a:p>
        </p:txBody>
      </p:sp>
      <p:sp>
        <p:nvSpPr>
          <p:cNvPr id="100236" name="Sub"/>
          <p:cNvSpPr txBox="1"/>
          <p:nvPr/>
        </p:nvSpPr>
        <p:spPr>
          <a:xfrm xmlns:a="http://schemas.openxmlformats.org/drawingml/2006/main">
            <a:off x="720000" y="2592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94A3B8"/>
                </a:solidFill>
              </a:rPr>
              <a:t>AI-Powered with IBM Granite  ·  Built with Agentic AI SDLC  ·  Developed using IBM Bob</a:t>
            </a:r>
          </a:p>
        </p:txBody>
      </p:sp>
      <p:sp>
        <p:nvSpPr>
          <p:cNvPr id="100237" name="Live"/>
          <p:cNvSpPr txBox="1"/>
          <p:nvPr/>
        </p:nvSpPr>
        <p:spPr>
          <a:xfrm xmlns:a="http://schemas.openxmlformats.org/drawingml/2006/main">
            <a:off x="720000" y="3024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4D399"/>
                </a:solidFill>
              </a:rPr>
              <a:t>Live at: http://localhost:3000</a:t>
            </a:r>
          </a:p>
        </p:txBody>
      </p:sp>
      <p:sp>
        <p:nvSpPr>
          <p:cNvPr id="100238" name="GH"/>
          <p:cNvSpPr txBox="1"/>
          <p:nvPr/>
        </p:nvSpPr>
        <p:spPr>
          <a:xfrm xmlns:a="http://schemas.openxmlformats.org/drawingml/2006/main">
            <a:off x="720000" y="3384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38BDF8"/>
                </a:solidFill>
              </a:rPr>
              <a:t>GitHub: github.com/YogeshRaje/Portfolio_Yogesh_IBMBob</a:t>
            </a:r>
          </a:p>
        </p:txBody>
      </p:sp>
      <p:sp>
        <p:nvSpPr>
          <p:cNvPr id="100239" name="Contact"/>
          <p:cNvSpPr txBox="1"/>
          <p:nvPr/>
        </p:nvSpPr>
        <p:spPr>
          <a:xfrm xmlns:a="http://schemas.openxmlformats.org/drawingml/2006/main">
            <a:off x="720000" y="378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94A3B8"/>
                </a:solidFill>
              </a:rPr>
              <a:t>Email: yogesh.raje@aigenius.in   ·   LinkedIn: linkedin.com/in/yogeshraje   ·   Pune, Maharashtra, India</a:t>
            </a:r>
          </a:p>
        </p:txBody>
      </p:sp>
      <p:sp>
        <p:nvSpPr>
          <p:cNvPr id="100240" name="Summary"/>
          <p:cNvSpPr txBox="1"/>
          <p:nvPr/>
        </p:nvSpPr>
        <p:spPr>
          <a:xfrm xmlns:a="http://schemas.openxmlformats.org/drawingml/2006/main">
            <a:off x="720000" y="432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818CF8"/>
                </a:solidFill>
              </a:rPr>
              <a:t>7 SDLC Phases  ·  16 FRs  ·  12 Tests Passed  ·  8 Portfolio Sections  ·  IBM Granite AI  ·  0 npm deps</a:t>
            </a:r>
          </a:p>
        </p:txBody>
      </p:sp>
      <p:sp>
        <p:nvSpPr>
          <p:cNvPr id="100241" name="Cert"/>
          <p:cNvSpPr txBox="1"/>
          <p:nvPr/>
        </p:nvSpPr>
        <p:spPr>
          <a:xfrm xmlns:a="http://schemas.openxmlformats.org/drawingml/2006/main">
            <a:off x="720000" y="4752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4D399"/>
                </a:solidFill>
              </a:rPr>
              <a:t>ALL 7 PHASES OF AGENTIC AI SDLC — COMPLETE  ✅</a:t>
            </a:r>
          </a:p>
        </p:txBody>
      </p:sp>
      <p:sp>
        <p:nvSpPr>
          <p:cNvPr id="100242" name="IBM"/>
          <p:cNvSpPr txBox="1"/>
          <p:nvPr/>
        </p:nvSpPr>
        <p:spPr>
          <a:xfrm xmlns:a="http://schemas.openxmlformats.org/drawingml/2006/main">
            <a:off x="720000" y="522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Powered by IBM Granite  |  ibm/granite-3-3-8b-instruct  |  IBM watsonx.ai  |  Built with IBM Bob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2026-09-13T06:45:59Z</dcterms:created>
  <cp:lastModifiedBy>OfficeCLI</cp:lastModifiedBy>
  <dcterms:modified xsi:type="dcterms:W3CDTF">2026-09-13T06:45:59Z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1.0.149</vt:lpwstr>
  </op:property>
  <op:property fmtid="{D5CDD505-2E9C-101B-9397-08002B2CF9AE}" pid="3" name="OfficeCLI.LastModified">
    <vt:lpwstr xmlns:vt="http://schemas.openxmlformats.org/officeDocument/2006/docPropsVTypes">2026-09-13T06:52:31Z</vt:lpwstr>
  </op:property>
</op:Properties>
</file>